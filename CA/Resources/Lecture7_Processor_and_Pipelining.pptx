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AUew2J+GWON/rKwOqPZbJ6ejb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D04362-D896-4704-9196-A69A0C25A3C4}">
  <a:tblStyle styleId="{BDD04362-D896-4704-9196-A69A0C25A3C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19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63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COURSE: COMPUTER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1828800"/>
            <a:ext cx="9692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Processor: Datapath, Pipelining &amp; Hazards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Lecture 7 — Building the Datapath, the Five-Stage Pipeline, Data &amp; Control Hazards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2A35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lock.png"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" y="43525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1645920" y="420624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Duration: 60 minutes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ook.png" id="25" name="Google Shape;2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504748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/>
          <p:nvPr/>
        </p:nvSpPr>
        <p:spPr>
          <a:xfrm>
            <a:off x="1645920" y="4937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Reference: </a:t>
            </a: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Patterson &amp; Hennessy, Computer Organization and Design (4th Ed.), Ch. 4 §4.3, 4.5, 4.7–4.8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Today's 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Four building blocks for your seventh hour in Computer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1600200"/>
            <a:ext cx="2542032" cy="4297680"/>
          </a:xfrm>
          <a:prstGeom prst="roundRect">
            <a:avLst>
              <a:gd fmla="val 359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77240" y="187452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77240" y="265176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yers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788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777240" y="3474720"/>
            <a:ext cx="20848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Datapath Fundamentals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77240" y="4297680"/>
            <a:ext cx="208483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The hardware that fetches, decodes, and executes an instruction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346704" y="1600200"/>
            <a:ext cx="2542032" cy="4297680"/>
          </a:xfrm>
          <a:prstGeom prst="roundRect">
            <a:avLst>
              <a:gd fmla="val 359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575304" y="187452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575304" y="265176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ompass.png" id="43" name="Google Shape;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2464" y="2788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3575304" y="3474720"/>
            <a:ext cx="20848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Five-Stage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575304" y="4297680"/>
            <a:ext cx="208483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Overlapping instructions like an assembly 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144768" y="1600200"/>
            <a:ext cx="2542032" cy="4297680"/>
          </a:xfrm>
          <a:prstGeom prst="roundRect">
            <a:avLst>
              <a:gd fmla="val 359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373368" y="187452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373368" y="265176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gitbranch.png" id="49" name="Google Shape;4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0528" y="2788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6373368" y="3474720"/>
            <a:ext cx="20848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 Hazards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373368" y="4297680"/>
            <a:ext cx="208483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Forwarding vs. stalling when instructions depend on each other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942832" y="1600200"/>
            <a:ext cx="2542032" cy="4297680"/>
          </a:xfrm>
          <a:prstGeom prst="roundRect">
            <a:avLst>
              <a:gd fmla="val 359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9171432" y="187452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171432" y="265176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pu.png" id="55" name="Google Shape;5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08592" y="2788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9171432" y="3474720"/>
            <a:ext cx="20848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Control Hazards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171432" y="4297680"/>
            <a:ext cx="208483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Predicting branches and recovering when the guess is wrong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Computer Architecture · Lecture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Datapath Fundamentals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hardware elements every instruction passes through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48640" y="146304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Four Elements of the Datapath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A35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rver.png"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20299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1188720" y="189280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 &amp; Instruction Memory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188720" y="2221992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Holds the address of, then fetches, the next instruction to execute.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2A35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arget.png" id="73" name="Google Shape;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29443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1188720" y="280720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Register File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188720" y="3136392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32 general-purpose registers; reads two operands and writes one result each cycle.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A35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.png" id="77" name="Google Shape;7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3858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1188720" y="372160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ALU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188720" y="4050792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Performs arithmetic and logic operations, and computes branch and memory addresses.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2A35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repeat.png" id="81" name="Google Shape;8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368" y="47731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1188720" y="463600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Memory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188720" y="4965192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Holds the values that load and store instructions read and write.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fmla="val 1600" name="adj"/>
            </a:avLst>
          </a:prstGeom>
          <a:solidFill>
            <a:srgbClr val="263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7223760" y="16459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Why the Datapath Matters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223760" y="2221992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7452360" y="2075688"/>
            <a:ext cx="3977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instruction is fetched, decoded, and executed through the same shared hardware.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223760" y="3090672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452360" y="2944368"/>
            <a:ext cx="3977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single-cycle datapath is simple to reason about but forces the clock to match its slowest instruction.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223760" y="3959352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7452360" y="3813048"/>
            <a:ext cx="3977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Separate instruction and data memories let fetch and memory access happen without conflict.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223760" y="4828032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7452360" y="4681728"/>
            <a:ext cx="3977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datapath's structure determines which instructions can safely overlap in a pipeline.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fmla="val 8333" name="adj"/>
            </a:avLst>
          </a:prstGeom>
          <a:solidFill>
            <a:srgbClr val="2A35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777240" y="5715000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Key idea: 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datapath is the physical hardware — registers, ALU, and memories — wired together to carry out one instruction; pipelining later overlaps several copies of this same hardware across neighboring instructions.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Computer Architecture · Lecture 7 · Ch. 4 §4.3 · pp. 307–315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Five-Stage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Five stages, five instructions in flight at once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48640" y="1600200"/>
            <a:ext cx="2051914" cy="3566160"/>
          </a:xfrm>
          <a:prstGeom prst="roundRect">
            <a:avLst>
              <a:gd fmla="val 40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300277" y="185623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hash.png"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293" y="19842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658368" y="2560320"/>
            <a:ext cx="18324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IF — Instruction Fetch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081528"/>
            <a:ext cx="183245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Read the instruction from memory and increment the program counter.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40080" y="4599432"/>
            <a:ext cx="1869034" cy="438912"/>
          </a:xfrm>
          <a:prstGeom prst="roundRect">
            <a:avLst>
              <a:gd fmla="val 1041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40080" y="4599432"/>
            <a:ext cx="186903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cycle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801722" y="1600200"/>
            <a:ext cx="2051914" cy="3566160"/>
          </a:xfrm>
          <a:prstGeom prst="roundRect">
            <a:avLst>
              <a:gd fmla="val 40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553358" y="185623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ype.png" id="114" name="Google Shape;11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1374" y="19842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2911450" y="2560320"/>
            <a:ext cx="18324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ID — Instruction Decode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911450" y="3081528"/>
            <a:ext cx="183245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Decode the opcode and read the register file.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893162" y="4599432"/>
            <a:ext cx="1869034" cy="438912"/>
          </a:xfrm>
          <a:prstGeom prst="roundRect">
            <a:avLst>
              <a:gd fmla="val 1041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893162" y="4599432"/>
            <a:ext cx="186903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cycle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054803" y="1600200"/>
            <a:ext cx="2051914" cy="3566160"/>
          </a:xfrm>
          <a:prstGeom prst="roundRect">
            <a:avLst>
              <a:gd fmla="val 40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5806440" y="185623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map.png" id="121" name="Google Shape;12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4456" y="19842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5164531" y="2560320"/>
            <a:ext cx="18324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 — Execute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164531" y="3081528"/>
            <a:ext cx="183245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The ALU performs the operation or computes an address.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146243" y="4599432"/>
            <a:ext cx="1869034" cy="438912"/>
          </a:xfrm>
          <a:prstGeom prst="roundRect">
            <a:avLst>
              <a:gd fmla="val 1041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5146243" y="4599432"/>
            <a:ext cx="186903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cycle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307885" y="1600200"/>
            <a:ext cx="2051914" cy="3566160"/>
          </a:xfrm>
          <a:prstGeom prst="roundRect">
            <a:avLst>
              <a:gd fmla="val 40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8059522" y="185623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navigation.png" id="128" name="Google Shape;12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7538" y="19842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7417613" y="2560320"/>
            <a:ext cx="18324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MEM — Memory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417613" y="3081528"/>
            <a:ext cx="183245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Load or store data in memory, if the instruction needs 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7399325" y="4599432"/>
            <a:ext cx="1869034" cy="438912"/>
          </a:xfrm>
          <a:prstGeom prst="roundRect">
            <a:avLst>
              <a:gd fmla="val 1041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7399325" y="4599432"/>
            <a:ext cx="186903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cycle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9560966" y="1600200"/>
            <a:ext cx="2051914" cy="3566160"/>
          </a:xfrm>
          <a:prstGeom prst="roundRect">
            <a:avLst>
              <a:gd fmla="val 40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10312603" y="185623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hare.png" id="135" name="Google Shape;13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40619" y="19842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9670694" y="2560320"/>
            <a:ext cx="18324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WB — Write Back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670694" y="3081528"/>
            <a:ext cx="183245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Write the result back into the register file.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9652406" y="4599432"/>
            <a:ext cx="1869034" cy="438912"/>
          </a:xfrm>
          <a:prstGeom prst="roundRect">
            <a:avLst>
              <a:gd fmla="val 1041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9652406" y="4599432"/>
            <a:ext cx="186903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cycle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fmla="val 705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Key idea: 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 five instructions overlapped — one per stage — the pipeline completes roughly one instruction per cycle once it's full, even though any single instruction still takes five cycles start to finish.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Computer Architecture · Lecture 7 · Ch. 4 §4.5 · pp. 330–343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Hazards: Forwarding vs. Stalling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Two ways to resolve a dependency between overlapping instructions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48640" y="1508760"/>
            <a:ext cx="5349240" cy="4160520"/>
          </a:xfrm>
          <a:prstGeom prst="roundRect">
            <a:avLst>
              <a:gd fmla="val 2198" name="adj"/>
            </a:avLst>
          </a:prstGeom>
          <a:solidFill>
            <a:srgbClr val="263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zap.png"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76" y="19110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1554480" y="176479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Forwarding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554480" y="216712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Routes a result directly from one pipeline stage to an earlier stage that needs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822960" y="2825496"/>
            <a:ext cx="82296" cy="8229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1051560" y="268833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Used whenever the needed value will be produced in time to route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822960" y="3310128"/>
            <a:ext cx="82296" cy="8229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1051560" y="317296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Adds extra data paths between pipeline stages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822960" y="3794760"/>
            <a:ext cx="82296" cy="8229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1051560" y="3657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Costs no cycles — the pipeline keeps moving every cycle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822960" y="4279392"/>
            <a:ext cx="82296" cy="8229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1051560" y="414223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an ALU result forwarded straight into a dependent add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822960" y="4764024"/>
            <a:ext cx="82296" cy="8229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1051560" y="462686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Resolves most data hazards in ordinary code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822960" y="5248656"/>
            <a:ext cx="82296" cy="8229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1051560" y="511149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Cost: zero — built into the datapath as extra wiring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263640" y="1508760"/>
            <a:ext cx="5349240" cy="4160520"/>
          </a:xfrm>
          <a:prstGeom prst="roundRect">
            <a:avLst>
              <a:gd fmla="val 2198" name="adj"/>
            </a:avLst>
          </a:prstGeom>
          <a:solidFill>
            <a:srgbClr val="263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oxes.png" id="170" name="Google Shape;17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5976" y="19110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/>
          <p:nvPr/>
        </p:nvSpPr>
        <p:spPr>
          <a:xfrm>
            <a:off x="7269480" y="176479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Stalling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269480" y="216712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Freezes the pipeline until the needed value is actually available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537960" y="2825496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6766560" y="268833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Used when the value isn't ready yet even with forwarding — e.g., right after a load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537960" y="3310128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766560" y="317296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Needs hazard-detection hardware to insert a bubble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537960" y="3794760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6766560" y="3657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Costs one or more stall cycles every time it happens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537960" y="4279392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6766560" y="414223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a load immediately followed by an instruction using its result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537960" y="4764024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6766560" y="462686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compiler can also reorder code to avoid triggering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537960" y="5248656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6766560" y="511149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Cost: one or more wasted cycles (a pipeline “bubble”)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Computer Architecture · Lecture 7 · Ch. 4 §4.7 · pp. 363–374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Control Hazards &amp; Branching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 branch's outcome isn't known until partway through the pipeline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monitor.png" id="195" name="Google Shape;1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208" y="17099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Branch Detection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48640" y="269748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The pipeline must recognize an instruction is a branch before it knows which way it goes.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343400" y="15544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rending.png" id="199" name="Google Shape;1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8848" y="17099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/>
          <p:nvPr/>
        </p:nvSpPr>
        <p:spPr>
          <a:xfrm>
            <a:off x="3383280" y="2331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Predict Not Taken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383280" y="269748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The simplest static scheme: keep fetching sequentially, and flush if wrong.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martphone.png" id="203" name="Google Shape;20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3488" y="17099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/>
          <p:nvPr/>
        </p:nvSpPr>
        <p:spPr>
          <a:xfrm>
            <a:off x="6217920" y="2331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Dynamic Prediction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217920" y="269748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 branch-prediction buffer records recent outcomes to guess before the branch resolves.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10012680" y="15544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attery.png" id="207" name="Google Shape;20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8128" y="17099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6"/>
          <p:cNvSpPr/>
          <p:nvPr/>
        </p:nvSpPr>
        <p:spPr>
          <a:xfrm>
            <a:off x="9052560" y="2331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2-bit Predictor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Requires two wrong guesses in a row before changing its prediction.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fmla="val 410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914400" y="437083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Branch Hazards in Practice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914400" y="4754880"/>
            <a:ext cx="10332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the classic five-stage MIPS pipeline, a mispredicted branch flushes the instructions fetched behind it — a real but modest penalty. In deeper, wider pipelines that penalty grows, which is exactly why aggressive designs lean more heavily on dynamic prediction.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Computer Architecture · Lecture 7 · Ch. 4 §4.8 · pp. 375–383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to Read More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Patterson &amp; Hennessy — Computer Organization and Design, 4th Edition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7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{BDD04362-D896-4704-9196-A69A0C25A3C4}</a:tableStyleId>
              </a:tblPr>
              <a:tblGrid>
                <a:gridCol w="3749050"/>
                <a:gridCol w="5852150"/>
                <a:gridCol w="1463050"/>
              </a:tblGrid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Today's Topic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Book Section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A93B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Datapath Fundamentals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Ch. 4 — §4.3 Building a Datapath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307–315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070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Five-Stage Pipeline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Ch. 4 — §4.5 An Overview of Pipelining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330–343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577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Hazards: Forwarding &amp; Stalling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Ch. 4 — §4.7 Forwarding vs. Stalling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363–374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27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3" name="Google Shape;223;p7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Also useful: </a:t>
            </a: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Section 4.9, Exceptions, and Section 4.13, Fallacies and Pitfalls, round out how real pipelines handle the unexpected.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Computer Architecture · Lecture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Recap &amp; What's Next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2A35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.png" id="234" name="Google Shape;2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63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"/>
          <p:cNvSpPr/>
          <p:nvPr/>
        </p:nvSpPr>
        <p:spPr>
          <a:xfrm>
            <a:off x="1097280" y="13258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datapath is shared hardware — PC, register file, ALU, and memories — that a pipeline overlaps across several instructions at once.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2A35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.png" id="237" name="Google Shape;2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2128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>
            <a:off x="1097280" y="2075688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five-stage pipeline (IF, ID, EX, MEM, WB) approaches one instruction per cycle once it's full, even though each instruction still takes five cycles.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2A35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.png" id="240" name="Google Shape;2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9626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8"/>
          <p:cNvSpPr/>
          <p:nvPr/>
        </p:nvSpPr>
        <p:spPr>
          <a:xfrm>
            <a:off x="1097280" y="2825496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Forwarding resolves most data hazards for free; a load-use hazard still needs a stall cycle.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548640" y="3621024"/>
            <a:ext cx="384048" cy="384048"/>
          </a:xfrm>
          <a:prstGeom prst="ellipse">
            <a:avLst/>
          </a:prstGeom>
          <a:solidFill>
            <a:srgbClr val="2A35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.png" id="243" name="Google Shape;2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37124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1097280" y="3575304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hazards are handled by predicting the branch outcome and flushing the pipeline when the prediction is wrong.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fmla="val 5161" name="adj"/>
            </a:avLst>
          </a:prstGeom>
          <a:solidFill>
            <a:srgbClr val="263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868680" y="4828032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arrowright.png" id="247" name="Google Shape;24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" y="49651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8"/>
          <p:cNvSpPr/>
          <p:nvPr/>
        </p:nvSpPr>
        <p:spPr>
          <a:xfrm>
            <a:off x="1645920" y="4709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Next Class: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1645920" y="507492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Parallelism &amp; Instruction-Level Parallelism: Multiple Issue, Speculation &amp; Dynamic Scheduling (Ch. 4 §4.10)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Computer Architecture · Lecture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2026-07-20T08:51:38Z</dcterms:created>
  <dc:creator>PptxGenJS</dc:creator>
</cp:coreProperties>
</file>