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840480" cy="3840480"/>
          </a:xfrm>
          <a:prstGeom prst="ellipse">
            <a:avLst/>
          </a:prstGeom>
          <a:solidFill>
            <a:srgbClr val="2630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COMPUTER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Cache Optimization: Replacement, Writing &amp; Main Memory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4 — Replacement Policies, Writing to a Cache, Multilevel Caches, Main Memory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06240"/>
            <a:ext cx="640080" cy="64008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0" descr="/home/claude/icons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4352544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42062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60 minutes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22960" y="4937760"/>
            <a:ext cx="640080" cy="64008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/home/claude/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504748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49377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Hennessy, Computer Organization and Design (4th Ed.), Ch. 5 §5.2–5.3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building blocks for your fourth hour in Computer Architecture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889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Policies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which block to evict when the cache is full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46704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575304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Shape 9"/>
          <p:cNvSpPr/>
          <p:nvPr/>
        </p:nvSpPr>
        <p:spPr>
          <a:xfrm>
            <a:off x="3575304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compa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7889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5304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to a Cache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575304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cache and memory consistent on a store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44768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6373368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6373368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2" descr="/home/claude/icons/gitbran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0528" y="27889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73368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&amp; Upgrading Caches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373368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cache levels to shrink the effective miss penalty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942832" y="1600200"/>
            <a:ext cx="2542032" cy="429768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9171432" y="187452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Shape 19"/>
          <p:cNvSpPr/>
          <p:nvPr/>
        </p:nvSpPr>
        <p:spPr>
          <a:xfrm>
            <a:off x="9171432" y="26517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3" descr="/home/claude/icons/cpu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8592" y="27889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171432" y="3474720"/>
            <a:ext cx="20848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Memory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9171432" y="4297680"/>
            <a:ext cx="208483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 technology and organizing memory to feed the cache</a:t>
            </a:r>
            <a:endParaRPr lang="en-US" sz="1250" dirty="0"/>
          </a:p>
        </p:txBody>
      </p:sp>
      <p:sp>
        <p:nvSpPr>
          <p:cNvPr id="28" name="Text 22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4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Which Block to Replace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is full — which resident block makes way for the new one?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Replacement Strategies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6" name="Image 0" descr="/home/claude/icons/ser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0299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8928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Recently Used (LRU)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188720" y="22219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Evicts the block that has gone longest untouched — tracks recency per set.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8346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0" name="Image 1" descr="/home/claude/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94436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8072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First-In, First-Out (FIFO)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88720" y="31363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Evicts the block that has been resident longest, regardless of recent use.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37490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2" descr="/home/claude/icons/datab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858768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37216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1188720" y="40507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a victim at random — simple hardware, surprisingly competitive.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8" name="Image 3" descr="/home/claude/icons/repea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773168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4636008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(Belady's)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88720" y="496519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Evicts the block used furthest in the future — a theoretical best case only.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903720" y="1463040"/>
            <a:ext cx="4709160" cy="4572000"/>
          </a:xfrm>
          <a:prstGeom prst="roundRect">
            <a:avLst>
              <a:gd name="adj" fmla="val 1600"/>
            </a:avLst>
          </a:prstGeom>
          <a:solidFill>
            <a:srgbClr val="263070"/>
          </a:solidFill>
          <a:ln/>
        </p:spPr>
      </p:sp>
      <p:sp>
        <p:nvSpPr>
          <p:cNvPr id="22" name="Text 16"/>
          <p:cNvSpPr/>
          <p:nvPr/>
        </p:nvSpPr>
        <p:spPr>
          <a:xfrm>
            <a:off x="722376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Replacement Only Matters for Associative Caches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7223760" y="222199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4" name="Text 18"/>
          <p:cNvSpPr/>
          <p:nvPr/>
        </p:nvSpPr>
        <p:spPr>
          <a:xfrm>
            <a:off x="7452360" y="207568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Direct-mapped caches have only one possible location per block, so there is nothing to choose.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223760" y="309067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6" name="Text 20"/>
          <p:cNvSpPr/>
          <p:nvPr/>
        </p:nvSpPr>
        <p:spPr>
          <a:xfrm>
            <a:off x="7452360" y="294436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Set-associative and fully associative caches offer n candidates per set — a policy is needed.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7223760" y="395935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Text 22"/>
          <p:cNvSpPr/>
          <p:nvPr/>
        </p:nvSpPr>
        <p:spPr>
          <a:xfrm>
            <a:off x="7452360" y="381304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tracks usage with reference bits or counters; cost grows fast with associativity.</a:t>
            </a:r>
            <a:endParaRPr lang="en-US" sz="1250" dirty="0"/>
          </a:p>
        </p:txBody>
      </p:sp>
      <p:sp>
        <p:nvSpPr>
          <p:cNvPr id="29" name="Shape 23"/>
          <p:cNvSpPr/>
          <p:nvPr/>
        </p:nvSpPr>
        <p:spPr>
          <a:xfrm>
            <a:off x="7223760" y="4828032"/>
            <a:ext cx="91440" cy="9144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0" name="Text 24"/>
          <p:cNvSpPr/>
          <p:nvPr/>
        </p:nvSpPr>
        <p:spPr>
          <a:xfrm>
            <a:off x="7452360" y="4681728"/>
            <a:ext cx="3977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associativity increases beyond 4–8 ways, most designs approximate LRU rather than track it exactly.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548640" y="57150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2A3577"/>
          </a:solidFill>
          <a:ln/>
        </p:spPr>
      </p:sp>
      <p:sp>
        <p:nvSpPr>
          <p:cNvPr id="32" name="Text 26"/>
          <p:cNvSpPr/>
          <p:nvPr/>
        </p:nvSpPr>
        <p:spPr>
          <a:xfrm>
            <a:off x="777240" y="571500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exploits temporal locality directly: the block least likely to be reused soon is the one least recently used — but true LRU is expensive to implement exactly at high associativity, so real hardware often approximates it.</a:t>
            </a:r>
            <a:endParaRPr lang="en-US" sz="1250" dirty="0"/>
          </a:p>
        </p:txBody>
      </p:sp>
      <p:sp>
        <p:nvSpPr>
          <p:cNvPr id="33" name="Text 2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4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Writing to a Cache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cache and memory consistent when a store occurs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00277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icons/h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293" y="1984248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Write-Through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58368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store updates both the cache and main memory immediately.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0080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Simple, but memory traffic is high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801722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53358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icons/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1374" y="198424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1450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11450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update only the cache; memory is updated when the block is replaced.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2893162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17" name="Text 13"/>
          <p:cNvSpPr/>
          <p:nvPr/>
        </p:nvSpPr>
        <p:spPr>
          <a:xfrm>
            <a:off x="2893162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Needs a dirty bit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054803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806440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/home/claude/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4456" y="1984248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64531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Allocate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64531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write miss, the block is first loaded into the cache, then updated.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5146243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24" name="Text 19"/>
          <p:cNvSpPr/>
          <p:nvPr/>
        </p:nvSpPr>
        <p:spPr>
          <a:xfrm>
            <a:off x="5146243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 naturally with write-back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7307885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059522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/home/claude/icons/naviga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7538" y="1984248"/>
            <a:ext cx="292608" cy="29260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17613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No-Write-Allocate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417613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write miss, the block is written straight to memory, bypassing the cache.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399325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1" name="Text 25"/>
          <p:cNvSpPr/>
          <p:nvPr/>
        </p:nvSpPr>
        <p:spPr>
          <a:xfrm>
            <a:off x="7399325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Pairs naturally with write-through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9560966" y="1600200"/>
            <a:ext cx="2051914" cy="3566160"/>
          </a:xfrm>
          <a:prstGeom prst="roundRect">
            <a:avLst>
              <a:gd name="adj" fmla="val 40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10312603" y="185623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4" name="Image 4" descr="/home/claude/icons/shar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0619" y="1984248"/>
            <a:ext cx="292608" cy="292608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670694" y="2560320"/>
            <a:ext cx="183245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Buffer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670694" y="3081528"/>
            <a:ext cx="1832458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pending writes so the processor doesn't stall waiting for memory.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9652406" y="4599432"/>
            <a:ext cx="1869034" cy="438912"/>
          </a:xfrm>
          <a:prstGeom prst="roundRect">
            <a:avLst>
              <a:gd name="adj" fmla="val 10417"/>
            </a:avLst>
          </a:prstGeom>
          <a:solidFill>
            <a:srgbClr val="F4F6FB"/>
          </a:solidFill>
          <a:ln/>
        </p:spPr>
      </p:sp>
      <p:sp>
        <p:nvSpPr>
          <p:cNvPr id="38" name="Text 31"/>
          <p:cNvSpPr/>
          <p:nvPr/>
        </p:nvSpPr>
        <p:spPr>
          <a:xfrm>
            <a:off x="9652406" y="4599432"/>
            <a:ext cx="186903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Smooths write-through traffic</a:t>
            </a:r>
            <a:endParaRPr lang="en-US" sz="950" dirty="0"/>
          </a:p>
        </p:txBody>
      </p:sp>
      <p:sp>
        <p:nvSpPr>
          <p:cNvPr id="39" name="Shape 32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/>
        </p:spPr>
      </p:sp>
      <p:sp>
        <p:nvSpPr>
          <p:cNvPr id="40" name="Text 33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Write-back minimizes memory traffic and pairs with write-allocate; write-through keeps memory always current and pairs with no-write-allocate — most real caches use write-back with write-allocate for performance.</a:t>
            </a:r>
            <a:endParaRPr lang="en-US" sz="1250" dirty="0"/>
          </a:p>
        </p:txBody>
      </p:sp>
      <p:sp>
        <p:nvSpPr>
          <p:cNvPr id="41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4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Multilevel &amp; Upgrading a Cache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cache levels to shrink the effective miss penalty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6" name="Image 0" descr="/home/claude/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" y="19110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Single-Level Cache (L1)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54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cache sits between the processor and main memory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22960" y="282549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 time is fast, but every miss pays the full main-memory penalty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22960" y="3310128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penalty can be 100+ cycles on modern systems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" y="3794760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design, verify, and reason about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22960" y="4279392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rate is bounded by the size of that one cache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2960" y="4764024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5"/>
          <p:cNvSpPr/>
          <p:nvPr/>
        </p:nvSpPr>
        <p:spPr>
          <a:xfrm>
            <a:off x="1051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L1 caches slow down hit time, limiting how big L1 can grow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22960" y="5248656"/>
            <a:ext cx="82296" cy="8229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0" name="Text 17"/>
          <p:cNvSpPr/>
          <p:nvPr/>
        </p:nvSpPr>
        <p:spPr>
          <a:xfrm>
            <a:off x="1051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simple embedded microcontrollers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6364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263070"/>
          </a:solidFill>
          <a:ln/>
        </p:spPr>
      </p:sp>
      <p:sp>
        <p:nvSpPr>
          <p:cNvPr id="22" name="Shape 19"/>
          <p:cNvSpPr/>
          <p:nvPr/>
        </p:nvSpPr>
        <p:spPr>
          <a:xfrm>
            <a:off x="6537960" y="1783080"/>
            <a:ext cx="548640" cy="54864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3" name="Image 1" descr="/home/claude/icons/box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1911096"/>
            <a:ext cx="292608" cy="29260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69480" y="176479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Multilevel Cache (L1-L3)</a:t>
            </a:r>
            <a:endParaRPr lang="en-US" sz="2200" dirty="0"/>
          </a:p>
        </p:txBody>
      </p:sp>
      <p:sp>
        <p:nvSpPr>
          <p:cNvPr id="25" name="Text 21"/>
          <p:cNvSpPr/>
          <p:nvPr/>
        </p:nvSpPr>
        <p:spPr>
          <a:xfrm>
            <a:off x="7269480" y="21671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larger cache sits between L1 and main memory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537960" y="282549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3"/>
          <p:cNvSpPr/>
          <p:nvPr/>
        </p:nvSpPr>
        <p:spPr>
          <a:xfrm>
            <a:off x="6766560" y="268833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stays small and fast; L2 catches most of L1's misses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6537960" y="3310128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9" name="Text 25"/>
          <p:cNvSpPr/>
          <p:nvPr/>
        </p:nvSpPr>
        <p:spPr>
          <a:xfrm>
            <a:off x="6766560" y="317296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miss penalty falls even though L1 alone is unchanged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6537960" y="3794760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1" name="Text 27"/>
          <p:cNvSpPr/>
          <p:nvPr/>
        </p:nvSpPr>
        <p:spPr>
          <a:xfrm>
            <a:off x="676656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AMAT extends naturally: MissPenalty(L1) = HitTime(L2) + MissRate(L2) × MissPenalty(L2)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537960" y="4279392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3" name="Text 29"/>
          <p:cNvSpPr/>
          <p:nvPr/>
        </p:nvSpPr>
        <p:spPr>
          <a:xfrm>
            <a:off x="6766560" y="4142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can use a different design — smaller/faster L1, larger/associative L2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6537960" y="4764024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5" name="Text 31"/>
          <p:cNvSpPr/>
          <p:nvPr/>
        </p:nvSpPr>
        <p:spPr>
          <a:xfrm>
            <a:off x="6766560" y="46268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"Upgrading a cache" often means adding or enlarging one of these levels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6537960" y="5248656"/>
            <a:ext cx="82296" cy="82296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37" name="Text 33"/>
          <p:cNvSpPr/>
          <p:nvPr/>
        </p:nvSpPr>
        <p:spPr>
          <a:xfrm>
            <a:off x="6766560" y="511149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use: nearly all modern desktop and server processors (L1/L2/L3)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4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Memory &amp; DRAM Technology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Feeding the cache from a slower, denser layer of memory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50876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icons/mon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4208" y="17099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RAM — one transistor and one capacitor per bit; dense but must be refreshed.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4340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9" name="Image 1" descr="/home/claude/icons/tren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848" y="17099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SRAM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338328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RAM — six transistors per bit; faster and more expensive, used for caches.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717804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/home/claude/icons/smart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3488" y="1709928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SDRAM / DDR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621792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DRAM clocked with the memory bus; DDR transfers on both clock edges.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0012680" y="15544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/home/claude/icons/batte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28" y="170992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2560" y="23317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Interleaving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9052560" y="269748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memory into banks that can be accessed in parallel to raise bandwidth.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</p:spPr>
      </p:sp>
      <p:sp>
        <p:nvSpPr>
          <p:cNvPr id="21" name="Text 15"/>
          <p:cNvSpPr/>
          <p:nvPr/>
        </p:nvSpPr>
        <p:spPr>
          <a:xfrm>
            <a:off x="914400" y="43708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Memory, Faster Refills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914400" y="475488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penalty = Memory access time × (Block size / Bus width). Worked example: a 4-word block, 1-word-wide bus, 15 cycles per access → 4 × 15 = 60 cycles. Widening the bus to 4 words cuts this to a single 15-cycle access.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4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Read More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Patterson &amp; Hennessy — Computer Organization and Design, 4th Edition</a:t>
            </a:r>
            <a:endParaRPr lang="en-US" sz="14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3566160"/>
        </p:xfrm>
        <a:graphic>
          <a:graphicData uri="http://schemas.openxmlformats.org/drawingml/2006/table">
            <a:tbl>
              <a:tblPr/>
              <a:tblGrid>
                <a:gridCol w="3749040"/>
                <a:gridCol w="5852160"/>
                <a:gridCol w="146304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Topic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 Section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A9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Replacement Policies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5 — §5.3 Measuring &amp; Improving Cache Performance (Choosing Which Block to Replace)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484–486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Writing to a Cache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5 — §5.2 The Basics of Caches (Handling Writes)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466–470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Multilevel &amp; Upgrading Caches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5 — §5.3 Measuring &amp; Improving Cache Performance (Multilevel Caches)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487–491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307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Memory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Ch. 5 — §5.2 The Basics of Caches (Designing the Memory System to Support Caches)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453–456, 471–478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57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useful: </a:t>
            </a:r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5.10, Real Stuff: the AMD Opteron X4 and Intel Nehalem Memory Hierarchies, shows these techniques combined in production processors.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2A35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 &amp; What's Next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5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325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policies decide which block leaves an associative cache — LRU exploits temporal locality, though hardware often approximates it.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121408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207568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Write-through keeps memory always current; write-back defers updates and needs a dirty bit — most systems pair write-back with write-allocate.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871216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1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62656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7280" y="2825496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caches (L1/L2/L3) let a small, fast L1 be backed by a larger L2 that absorbs most of its misses, lowering the effective miss penalty.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621024"/>
            <a:ext cx="384048" cy="384048"/>
          </a:xfrm>
          <a:prstGeom prst="ellipse">
            <a:avLst/>
          </a:prstGeom>
          <a:solidFill>
            <a:srgbClr val="2A3577"/>
          </a:solidFill>
          <a:ln/>
        </p:spPr>
      </p:sp>
      <p:pic>
        <p:nvPicPr>
          <p:cNvPr id="1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71246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97280" y="3575304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memory is built from DRAM; wider buses, interleaving, and DDR signaling all raise the bandwidth available to refill a cache line.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263070"/>
          </a:solidFill>
          <a:ln/>
        </p:spPr>
      </p:sp>
      <p:sp>
        <p:nvSpPr>
          <p:cNvPr id="17" name="Shape 11"/>
          <p:cNvSpPr/>
          <p:nvPr/>
        </p:nvSpPr>
        <p:spPr>
          <a:xfrm>
            <a:off x="868680" y="4828032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8" name="Image 4" descr="/home/claude/icons/arrowrigh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965192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45920" y="4709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Class: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1645920" y="507492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Memory — Paging, Address Translation &amp; the TLB (Ch. 5 §5.4)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 · Lecture 4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2026-07-20T08:51:38Z</dcterms:created>
  <dcterms:modified xsi:type="dcterms:W3CDTF">2026-07-20T08:51:38Z</dcterms:modified>
</cp:coreProperties>
</file>