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1.png"/><Relationship Id="rId3" Type="http://schemas.openxmlformats.org/officeDocument/2006/relationships/image" Target="../media/image-8-1.png"/><Relationship Id="rId4" Type="http://schemas.openxmlformats.org/officeDocument/2006/relationships/image" Target="../media/image-8-1.png"/><Relationship Id="rId5" Type="http://schemas.openxmlformats.org/officeDocument/2006/relationships/image" Target="../media/image-8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463040"/>
            <a:ext cx="4572000" cy="4572000"/>
          </a:xfrm>
          <a:prstGeom prst="ellipse">
            <a:avLst/>
          </a:prstGeom>
          <a:solidFill>
            <a:srgbClr val="2A3577"/>
          </a:solidFill>
          <a:ln/>
        </p:spPr>
      </p:sp>
      <p:sp>
        <p:nvSpPr>
          <p:cNvPr id="3" name="Shape 1"/>
          <p:cNvSpPr/>
          <p:nvPr/>
        </p:nvSpPr>
        <p:spPr>
          <a:xfrm>
            <a:off x="-1645920" y="4206240"/>
            <a:ext cx="3840480" cy="3840480"/>
          </a:xfrm>
          <a:prstGeom prst="ellipse">
            <a:avLst/>
          </a:prstGeom>
          <a:solidFill>
            <a:srgbClr val="263070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3716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3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COURSE: COMPUTER ARCHITECTURE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822960" y="1828800"/>
            <a:ext cx="96926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Representation: Numbers, Floating-Point &amp; Characters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822960" y="3246120"/>
            <a:ext cx="9601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Lecture 6 — Data Types, Signed Numbers, Floating-Point, Character Encoding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822960" y="4206240"/>
            <a:ext cx="640080" cy="640080"/>
          </a:xfrm>
          <a:prstGeom prst="ellipse">
            <a:avLst/>
          </a:prstGeom>
          <a:solidFill>
            <a:srgbClr val="2A3577"/>
          </a:solidFill>
          <a:ln/>
        </p:spPr>
      </p:sp>
      <p:pic>
        <p:nvPicPr>
          <p:cNvPr id="8" name="Image 0" descr="/home/claude/icons/cloc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9264" y="4352544"/>
            <a:ext cx="347472" cy="347472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645920" y="4206240"/>
            <a:ext cx="3657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Duration: 60 minutes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822960" y="4937760"/>
            <a:ext cx="640080" cy="640080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11" name="Image 1" descr="/home/claude/icons/boo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2688" y="5047488"/>
            <a:ext cx="420624" cy="420624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645920" y="493776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Reference: </a:t>
            </a:r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Patterson &amp; Hennessy, Computer Organization and Design (4th Ed.), Ch. 2 §2.4, 2.9; Ch. 3 §3.5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Today's Agenda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building blocks for your sixth hour in Computer Architecture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2542032" cy="4297680"/>
          </a:xfrm>
          <a:prstGeom prst="roundRect">
            <a:avLst>
              <a:gd name="adj" fmla="val 359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E2761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77240" y="1874520"/>
            <a:ext cx="1463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2A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777240" y="2651760"/>
            <a:ext cx="640080" cy="64008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7" name="Image 0" descr="/home/claude/icons/layer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2788920"/>
            <a:ext cx="365760" cy="36576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77240" y="3474720"/>
            <a:ext cx="2084832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Representation Fundamentals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777240" y="4297680"/>
            <a:ext cx="2084832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bits become bytes, words, and typed values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3346704" y="1600200"/>
            <a:ext cx="2542032" cy="4297680"/>
          </a:xfrm>
          <a:prstGeom prst="roundRect">
            <a:avLst>
              <a:gd name="adj" fmla="val 359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E2761">
                <a:alpha val="12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3575304" y="1874520"/>
            <a:ext cx="1463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2A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3000" dirty="0"/>
          </a:p>
        </p:txBody>
      </p:sp>
      <p:sp>
        <p:nvSpPr>
          <p:cNvPr id="12" name="Shape 9"/>
          <p:cNvSpPr/>
          <p:nvPr/>
        </p:nvSpPr>
        <p:spPr>
          <a:xfrm>
            <a:off x="3575304" y="2651760"/>
            <a:ext cx="640080" cy="64008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3" name="Image 1" descr="/home/claude/icons/compas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12464" y="2788920"/>
            <a:ext cx="365760" cy="36576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3575304" y="3474720"/>
            <a:ext cx="2084832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Signed &amp; Unsigned Numbers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3575304" y="4297680"/>
            <a:ext cx="2084832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Encoding integers, and where two's complement comes from</a:t>
            </a:r>
            <a:endParaRPr lang="en-US" sz="1250" dirty="0"/>
          </a:p>
        </p:txBody>
      </p:sp>
      <p:sp>
        <p:nvSpPr>
          <p:cNvPr id="16" name="Shape 12"/>
          <p:cNvSpPr/>
          <p:nvPr/>
        </p:nvSpPr>
        <p:spPr>
          <a:xfrm>
            <a:off x="6144768" y="1600200"/>
            <a:ext cx="2542032" cy="4297680"/>
          </a:xfrm>
          <a:prstGeom prst="roundRect">
            <a:avLst>
              <a:gd name="adj" fmla="val 359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E2761">
                <a:alpha val="12000"/>
              </a:srgbClr>
            </a:outerShdw>
          </a:effectLst>
        </p:spPr>
      </p:sp>
      <p:sp>
        <p:nvSpPr>
          <p:cNvPr id="17" name="Text 13"/>
          <p:cNvSpPr/>
          <p:nvPr/>
        </p:nvSpPr>
        <p:spPr>
          <a:xfrm>
            <a:off x="6373368" y="1874520"/>
            <a:ext cx="1463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2A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3000" dirty="0"/>
          </a:p>
        </p:txBody>
      </p:sp>
      <p:sp>
        <p:nvSpPr>
          <p:cNvPr id="18" name="Shape 14"/>
          <p:cNvSpPr/>
          <p:nvPr/>
        </p:nvSpPr>
        <p:spPr>
          <a:xfrm>
            <a:off x="6373368" y="2651760"/>
            <a:ext cx="640080" cy="64008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9" name="Image 2" descr="/home/claude/icons/gitbranch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10528" y="2788920"/>
            <a:ext cx="365760" cy="365760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6373368" y="3474720"/>
            <a:ext cx="2084832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Floating-Point Representation</a:t>
            </a:r>
            <a:endParaRPr lang="en-US" sz="1600" dirty="0"/>
          </a:p>
        </p:txBody>
      </p:sp>
      <p:sp>
        <p:nvSpPr>
          <p:cNvPr id="21" name="Text 16"/>
          <p:cNvSpPr/>
          <p:nvPr/>
        </p:nvSpPr>
        <p:spPr>
          <a:xfrm>
            <a:off x="6373368" y="4297680"/>
            <a:ext cx="2084832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Trading range and precision to represent real numbers</a:t>
            </a:r>
            <a:endParaRPr lang="en-US" sz="1250" dirty="0"/>
          </a:p>
        </p:txBody>
      </p:sp>
      <p:sp>
        <p:nvSpPr>
          <p:cNvPr id="22" name="Shape 17"/>
          <p:cNvSpPr/>
          <p:nvPr/>
        </p:nvSpPr>
        <p:spPr>
          <a:xfrm>
            <a:off x="8942832" y="1600200"/>
            <a:ext cx="2542032" cy="4297680"/>
          </a:xfrm>
          <a:prstGeom prst="roundRect">
            <a:avLst>
              <a:gd name="adj" fmla="val 359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E2761">
                <a:alpha val="12000"/>
              </a:srgbClr>
            </a:outerShdw>
          </a:effectLst>
        </p:spPr>
      </p:sp>
      <p:sp>
        <p:nvSpPr>
          <p:cNvPr id="23" name="Text 18"/>
          <p:cNvSpPr/>
          <p:nvPr/>
        </p:nvSpPr>
        <p:spPr>
          <a:xfrm>
            <a:off x="9171432" y="1874520"/>
            <a:ext cx="1463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2A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3000" dirty="0"/>
          </a:p>
        </p:txBody>
      </p:sp>
      <p:sp>
        <p:nvSpPr>
          <p:cNvPr id="24" name="Shape 19"/>
          <p:cNvSpPr/>
          <p:nvPr/>
        </p:nvSpPr>
        <p:spPr>
          <a:xfrm>
            <a:off x="9171432" y="2651760"/>
            <a:ext cx="640080" cy="64008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25" name="Image 3" descr="/home/claude/icons/cpu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08592" y="2788920"/>
            <a:ext cx="365760" cy="365760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9171432" y="3474720"/>
            <a:ext cx="2084832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Character Representation</a:t>
            </a:r>
            <a:endParaRPr lang="en-US" sz="1600" dirty="0"/>
          </a:p>
        </p:txBody>
      </p:sp>
      <p:sp>
        <p:nvSpPr>
          <p:cNvPr id="27" name="Text 21"/>
          <p:cNvSpPr/>
          <p:nvPr/>
        </p:nvSpPr>
        <p:spPr>
          <a:xfrm>
            <a:off x="9171432" y="4297680"/>
            <a:ext cx="2084832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Encoding text as numbers, from ASCII to Unicode</a:t>
            </a:r>
            <a:endParaRPr lang="en-US" sz="1250" dirty="0"/>
          </a:p>
        </p:txBody>
      </p:sp>
      <p:sp>
        <p:nvSpPr>
          <p:cNvPr id="28" name="Text 22"/>
          <p:cNvSpPr/>
          <p:nvPr/>
        </p:nvSpPr>
        <p:spPr>
          <a:xfrm>
            <a:off x="548640" y="651052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Computer Architecture · Lecture 6</a:t>
            </a:r>
            <a:endParaRPr lang="en-US" sz="1000" dirty="0"/>
          </a:p>
        </p:txBody>
      </p:sp>
      <p:sp>
        <p:nvSpPr>
          <p:cNvPr id="29" name="Text 23"/>
          <p:cNvSpPr/>
          <p:nvPr/>
        </p:nvSpPr>
        <p:spPr>
          <a:xfrm>
            <a:off x="1133856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Representation Fundamentals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48640" y="896112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value in a computer is ultimately a pattern of bits</a:t>
            </a:r>
            <a:endParaRPr lang="en-US" sz="1450" dirty="0"/>
          </a:p>
        </p:txBody>
      </p:sp>
      <p:sp>
        <p:nvSpPr>
          <p:cNvPr id="4" name="Text 2"/>
          <p:cNvSpPr/>
          <p:nvPr/>
        </p:nvSpPr>
        <p:spPr>
          <a:xfrm>
            <a:off x="548640" y="1463040"/>
            <a:ext cx="6035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Building Blocks of Data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1920240"/>
            <a:ext cx="457200" cy="457200"/>
          </a:xfrm>
          <a:prstGeom prst="ellipse">
            <a:avLst/>
          </a:prstGeom>
          <a:solidFill>
            <a:srgbClr val="2A3577"/>
          </a:solidFill>
          <a:ln/>
        </p:spPr>
      </p:sp>
      <p:pic>
        <p:nvPicPr>
          <p:cNvPr id="6" name="Image 0" descr="/home/claude/icons/serv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8368" y="2029968"/>
            <a:ext cx="237744" cy="23774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188720" y="1892808"/>
            <a:ext cx="5394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Bit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1188720" y="2221992"/>
            <a:ext cx="5394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smallest unit of information — a single 0 or 1.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548640" y="2834640"/>
            <a:ext cx="457200" cy="457200"/>
          </a:xfrm>
          <a:prstGeom prst="ellipse">
            <a:avLst/>
          </a:prstGeom>
          <a:solidFill>
            <a:srgbClr val="2A3577"/>
          </a:solidFill>
          <a:ln/>
        </p:spPr>
      </p:sp>
      <p:pic>
        <p:nvPicPr>
          <p:cNvPr id="10" name="Image 1" descr="/home/claude/icons/targe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2944368"/>
            <a:ext cx="237744" cy="237744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188720" y="2807208"/>
            <a:ext cx="5394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Byte</a:t>
            </a:r>
            <a:endParaRPr lang="en-US" sz="1350" dirty="0"/>
          </a:p>
        </p:txBody>
      </p:sp>
      <p:sp>
        <p:nvSpPr>
          <p:cNvPr id="12" name="Text 8"/>
          <p:cNvSpPr/>
          <p:nvPr/>
        </p:nvSpPr>
        <p:spPr>
          <a:xfrm>
            <a:off x="1188720" y="3136392"/>
            <a:ext cx="5394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Eight bits, the smallest addressable unit of memory on most machines.</a:t>
            </a:r>
            <a:endParaRPr lang="en-US" sz="1150" dirty="0"/>
          </a:p>
        </p:txBody>
      </p:sp>
      <p:sp>
        <p:nvSpPr>
          <p:cNvPr id="13" name="Shape 9"/>
          <p:cNvSpPr/>
          <p:nvPr/>
        </p:nvSpPr>
        <p:spPr>
          <a:xfrm>
            <a:off x="548640" y="3749040"/>
            <a:ext cx="457200" cy="457200"/>
          </a:xfrm>
          <a:prstGeom prst="ellipse">
            <a:avLst/>
          </a:prstGeom>
          <a:solidFill>
            <a:srgbClr val="2A3577"/>
          </a:solidFill>
          <a:ln/>
        </p:spPr>
      </p:sp>
      <p:pic>
        <p:nvPicPr>
          <p:cNvPr id="14" name="Image 2" descr="/home/claude/icons/databas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" y="3858768"/>
            <a:ext cx="237744" cy="237744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188720" y="3721608"/>
            <a:ext cx="5394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</a:t>
            </a:r>
            <a:endParaRPr lang="en-US" sz="1350" dirty="0"/>
          </a:p>
        </p:txBody>
      </p:sp>
      <p:sp>
        <p:nvSpPr>
          <p:cNvPr id="16" name="Text 11"/>
          <p:cNvSpPr/>
          <p:nvPr/>
        </p:nvSpPr>
        <p:spPr>
          <a:xfrm>
            <a:off x="1188720" y="4050792"/>
            <a:ext cx="5394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natural unit a processor operates on — 32 bits on MIPS, often 64 bits today.</a:t>
            </a:r>
            <a:endParaRPr lang="en-US" sz="1150" dirty="0"/>
          </a:p>
        </p:txBody>
      </p:sp>
      <p:sp>
        <p:nvSpPr>
          <p:cNvPr id="17" name="Shape 12"/>
          <p:cNvSpPr/>
          <p:nvPr/>
        </p:nvSpPr>
        <p:spPr>
          <a:xfrm>
            <a:off x="548640" y="4663440"/>
            <a:ext cx="457200" cy="457200"/>
          </a:xfrm>
          <a:prstGeom prst="ellipse">
            <a:avLst/>
          </a:prstGeom>
          <a:solidFill>
            <a:srgbClr val="2A3577"/>
          </a:solidFill>
          <a:ln/>
        </p:spPr>
      </p:sp>
      <p:pic>
        <p:nvPicPr>
          <p:cNvPr id="18" name="Image 3" descr="/home/claude/icons/repeat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8368" y="4773168"/>
            <a:ext cx="237744" cy="237744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1188720" y="4636008"/>
            <a:ext cx="5394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Type</a:t>
            </a:r>
            <a:endParaRPr lang="en-US" sz="1350" dirty="0"/>
          </a:p>
        </p:txBody>
      </p:sp>
      <p:sp>
        <p:nvSpPr>
          <p:cNvPr id="20" name="Text 14"/>
          <p:cNvSpPr/>
          <p:nvPr/>
        </p:nvSpPr>
        <p:spPr>
          <a:xfrm>
            <a:off x="1188720" y="4965192"/>
            <a:ext cx="5394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interpretation applied to a bit pattern — integer, float, character, or address.</a:t>
            </a:r>
            <a:endParaRPr lang="en-US" sz="1150" dirty="0"/>
          </a:p>
        </p:txBody>
      </p:sp>
      <p:sp>
        <p:nvSpPr>
          <p:cNvPr id="21" name="Shape 15"/>
          <p:cNvSpPr/>
          <p:nvPr/>
        </p:nvSpPr>
        <p:spPr>
          <a:xfrm>
            <a:off x="6903720" y="1463040"/>
            <a:ext cx="4709160" cy="4572000"/>
          </a:xfrm>
          <a:prstGeom prst="roundRect">
            <a:avLst>
              <a:gd name="adj" fmla="val 1600"/>
            </a:avLst>
          </a:prstGeom>
          <a:solidFill>
            <a:srgbClr val="263070"/>
          </a:solidFill>
          <a:ln/>
        </p:spPr>
      </p:sp>
      <p:sp>
        <p:nvSpPr>
          <p:cNvPr id="22" name="Text 16"/>
          <p:cNvSpPr/>
          <p:nvPr/>
        </p:nvSpPr>
        <p:spPr>
          <a:xfrm>
            <a:off x="7223760" y="164592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Representation Choices Matter</a:t>
            </a:r>
            <a:endParaRPr lang="en-US" sz="1500" dirty="0"/>
          </a:p>
        </p:txBody>
      </p:sp>
      <p:sp>
        <p:nvSpPr>
          <p:cNvPr id="23" name="Shape 17"/>
          <p:cNvSpPr/>
          <p:nvPr/>
        </p:nvSpPr>
        <p:spPr>
          <a:xfrm>
            <a:off x="7223760" y="2221992"/>
            <a:ext cx="91440" cy="91440"/>
          </a:xfrm>
          <a:prstGeom prst="ellipse">
            <a:avLst/>
          </a:prstGeom>
          <a:solidFill>
            <a:srgbClr val="F2A93B"/>
          </a:solidFill>
          <a:ln/>
        </p:spPr>
      </p:sp>
      <p:sp>
        <p:nvSpPr>
          <p:cNvPr id="24" name="Text 18"/>
          <p:cNvSpPr/>
          <p:nvPr/>
        </p:nvSpPr>
        <p:spPr>
          <a:xfrm>
            <a:off x="7452360" y="2075688"/>
            <a:ext cx="397764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bit pattern means different things depending on its declared data type.</a:t>
            </a:r>
            <a:endParaRPr lang="en-US" sz="1250" dirty="0"/>
          </a:p>
        </p:txBody>
      </p:sp>
      <p:sp>
        <p:nvSpPr>
          <p:cNvPr id="25" name="Shape 19"/>
          <p:cNvSpPr/>
          <p:nvPr/>
        </p:nvSpPr>
        <p:spPr>
          <a:xfrm>
            <a:off x="7223760" y="3090672"/>
            <a:ext cx="91440" cy="91440"/>
          </a:xfrm>
          <a:prstGeom prst="ellipse">
            <a:avLst/>
          </a:prstGeom>
          <a:solidFill>
            <a:srgbClr val="F2A93B"/>
          </a:solidFill>
          <a:ln/>
        </p:spPr>
      </p:sp>
      <p:sp>
        <p:nvSpPr>
          <p:cNvPr id="26" name="Text 20"/>
          <p:cNvSpPr/>
          <p:nvPr/>
        </p:nvSpPr>
        <p:spPr>
          <a:xfrm>
            <a:off x="7452360" y="2944368"/>
            <a:ext cx="397764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Fixed-width encodings trade range for a small, constant, predictable storage size.</a:t>
            </a:r>
            <a:endParaRPr lang="en-US" sz="1250" dirty="0"/>
          </a:p>
        </p:txBody>
      </p:sp>
      <p:sp>
        <p:nvSpPr>
          <p:cNvPr id="27" name="Shape 21"/>
          <p:cNvSpPr/>
          <p:nvPr/>
        </p:nvSpPr>
        <p:spPr>
          <a:xfrm>
            <a:off x="7223760" y="3959352"/>
            <a:ext cx="91440" cy="91440"/>
          </a:xfrm>
          <a:prstGeom prst="ellipse">
            <a:avLst/>
          </a:prstGeom>
          <a:solidFill>
            <a:srgbClr val="F2A93B"/>
          </a:solidFill>
          <a:ln/>
        </p:spPr>
      </p:sp>
      <p:sp>
        <p:nvSpPr>
          <p:cNvPr id="28" name="Text 22"/>
          <p:cNvSpPr/>
          <p:nvPr/>
        </p:nvSpPr>
        <p:spPr>
          <a:xfrm>
            <a:off x="7452360" y="3813048"/>
            <a:ext cx="397764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Endianness determines whether the most- or least-significant byte is stored first.</a:t>
            </a:r>
            <a:endParaRPr lang="en-US" sz="1250" dirty="0"/>
          </a:p>
        </p:txBody>
      </p:sp>
      <p:sp>
        <p:nvSpPr>
          <p:cNvPr id="29" name="Shape 23"/>
          <p:cNvSpPr/>
          <p:nvPr/>
        </p:nvSpPr>
        <p:spPr>
          <a:xfrm>
            <a:off x="7223760" y="4828032"/>
            <a:ext cx="91440" cy="91440"/>
          </a:xfrm>
          <a:prstGeom prst="ellipse">
            <a:avLst/>
          </a:prstGeom>
          <a:solidFill>
            <a:srgbClr val="F2A93B"/>
          </a:solidFill>
          <a:ln/>
        </p:spPr>
      </p:sp>
      <p:sp>
        <p:nvSpPr>
          <p:cNvPr id="30" name="Text 24"/>
          <p:cNvSpPr/>
          <p:nvPr/>
        </p:nvSpPr>
        <p:spPr>
          <a:xfrm>
            <a:off x="7452360" y="4681728"/>
            <a:ext cx="397764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Choosing a representation is a trade-off among range, precision, and hardware cost.</a:t>
            </a:r>
            <a:endParaRPr lang="en-US" sz="1250" dirty="0"/>
          </a:p>
        </p:txBody>
      </p:sp>
      <p:sp>
        <p:nvSpPr>
          <p:cNvPr id="31" name="Shape 25"/>
          <p:cNvSpPr/>
          <p:nvPr/>
        </p:nvSpPr>
        <p:spPr>
          <a:xfrm>
            <a:off x="548640" y="5715000"/>
            <a:ext cx="11064240" cy="658368"/>
          </a:xfrm>
          <a:prstGeom prst="roundRect">
            <a:avLst>
              <a:gd name="adj" fmla="val 8333"/>
            </a:avLst>
          </a:prstGeom>
          <a:solidFill>
            <a:srgbClr val="2A3577"/>
          </a:solidFill>
          <a:ln/>
        </p:spPr>
      </p:sp>
      <p:sp>
        <p:nvSpPr>
          <p:cNvPr id="32" name="Text 26"/>
          <p:cNvSpPr/>
          <p:nvPr/>
        </p:nvSpPr>
        <p:spPr>
          <a:xfrm>
            <a:off x="777240" y="5715000"/>
            <a:ext cx="106070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idea:  </a:t>
            </a:r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bit pattern has no inherent meaning — it is data only in the context of the type the hardware or program assigns to it: the same 32 bits can be an integer, a float, an instruction, or four characters.</a:t>
            </a:r>
            <a:endParaRPr lang="en-US" sz="1250" dirty="0"/>
          </a:p>
        </p:txBody>
      </p:sp>
      <p:sp>
        <p:nvSpPr>
          <p:cNvPr id="33" name="Text 27"/>
          <p:cNvSpPr/>
          <p:nvPr/>
        </p:nvSpPr>
        <p:spPr>
          <a:xfrm>
            <a:off x="548640" y="651052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A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Computer Architecture · Lecture 6</a:t>
            </a:r>
            <a:endParaRPr lang="en-US" sz="1000" dirty="0"/>
          </a:p>
        </p:txBody>
      </p:sp>
      <p:sp>
        <p:nvSpPr>
          <p:cNvPr id="34" name="Text 28"/>
          <p:cNvSpPr/>
          <p:nvPr/>
        </p:nvSpPr>
        <p:spPr>
          <a:xfrm>
            <a:off x="1133856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Signed &amp; Unsigned Numbers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ways (and formats) to encode integers in fixed-width binary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2051914" cy="3566160"/>
          </a:xfrm>
          <a:prstGeom prst="roundRect">
            <a:avLst>
              <a:gd name="adj" fmla="val 401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E2761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300277" y="1856232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6" name="Image 0" descr="/home/claude/icons/hash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28293" y="1984248"/>
            <a:ext cx="292608" cy="29260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58368" y="2560320"/>
            <a:ext cx="1832458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Unsigned Binary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658368" y="3081528"/>
            <a:ext cx="1832458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bit contributes a positive power of two; range 0 to 2^n − 1.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640080" y="4599432"/>
            <a:ext cx="1869034" cy="438912"/>
          </a:xfrm>
          <a:prstGeom prst="roundRect">
            <a:avLst>
              <a:gd name="adj" fmla="val 10417"/>
            </a:avLst>
          </a:prstGeom>
          <a:solidFill>
            <a:srgbClr val="F4F6FB"/>
          </a:solidFill>
          <a:ln/>
        </p:spPr>
      </p:sp>
      <p:sp>
        <p:nvSpPr>
          <p:cNvPr id="10" name="Text 7"/>
          <p:cNvSpPr/>
          <p:nvPr/>
        </p:nvSpPr>
        <p:spPr>
          <a:xfrm>
            <a:off x="640080" y="4599432"/>
            <a:ext cx="1869034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1101 → 13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2801722" y="1600200"/>
            <a:ext cx="2051914" cy="3566160"/>
          </a:xfrm>
          <a:prstGeom prst="roundRect">
            <a:avLst>
              <a:gd name="adj" fmla="val 401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E2761">
                <a:alpha val="12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3553358" y="1856232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3" name="Image 1" descr="/home/claude/icons/typ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81374" y="1984248"/>
            <a:ext cx="292608" cy="292608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2911450" y="2560320"/>
            <a:ext cx="1832458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Sign-Magnitude</a:t>
            </a:r>
            <a:endParaRPr lang="en-US" sz="1300" dirty="0"/>
          </a:p>
        </p:txBody>
      </p:sp>
      <p:sp>
        <p:nvSpPr>
          <p:cNvPr id="15" name="Text 11"/>
          <p:cNvSpPr/>
          <p:nvPr/>
        </p:nvSpPr>
        <p:spPr>
          <a:xfrm>
            <a:off x="2911450" y="3081528"/>
            <a:ext cx="1832458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top bit is a sign flag; the rest is the magnitude.</a:t>
            </a:r>
            <a:endParaRPr lang="en-US" sz="1050" dirty="0"/>
          </a:p>
        </p:txBody>
      </p:sp>
      <p:sp>
        <p:nvSpPr>
          <p:cNvPr id="16" name="Shape 12"/>
          <p:cNvSpPr/>
          <p:nvPr/>
        </p:nvSpPr>
        <p:spPr>
          <a:xfrm>
            <a:off x="2893162" y="4599432"/>
            <a:ext cx="1869034" cy="438912"/>
          </a:xfrm>
          <a:prstGeom prst="roundRect">
            <a:avLst>
              <a:gd name="adj" fmla="val 10417"/>
            </a:avLst>
          </a:prstGeom>
          <a:solidFill>
            <a:srgbClr val="F4F6FB"/>
          </a:solidFill>
          <a:ln/>
        </p:spPr>
      </p:sp>
      <p:sp>
        <p:nvSpPr>
          <p:cNvPr id="17" name="Text 13"/>
          <p:cNvSpPr/>
          <p:nvPr/>
        </p:nvSpPr>
        <p:spPr>
          <a:xfrm>
            <a:off x="2893162" y="4599432"/>
            <a:ext cx="1869034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1101 → −5</a:t>
            </a:r>
            <a:endParaRPr lang="en-US" sz="950" dirty="0"/>
          </a:p>
        </p:txBody>
      </p:sp>
      <p:sp>
        <p:nvSpPr>
          <p:cNvPr id="18" name="Shape 14"/>
          <p:cNvSpPr/>
          <p:nvPr/>
        </p:nvSpPr>
        <p:spPr>
          <a:xfrm>
            <a:off x="5054803" y="1600200"/>
            <a:ext cx="2051914" cy="3566160"/>
          </a:xfrm>
          <a:prstGeom prst="roundRect">
            <a:avLst>
              <a:gd name="adj" fmla="val 401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E2761">
                <a:alpha val="12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5806440" y="1856232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20" name="Image 2" descr="/home/claude/icons/map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34456" y="1984248"/>
            <a:ext cx="292608" cy="292608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5164531" y="2560320"/>
            <a:ext cx="1832458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One's Complement</a:t>
            </a:r>
            <a:endParaRPr lang="en-US" sz="1300" dirty="0"/>
          </a:p>
        </p:txBody>
      </p:sp>
      <p:sp>
        <p:nvSpPr>
          <p:cNvPr id="22" name="Text 17"/>
          <p:cNvSpPr/>
          <p:nvPr/>
        </p:nvSpPr>
        <p:spPr>
          <a:xfrm>
            <a:off x="5164531" y="3081528"/>
            <a:ext cx="1832458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Negative numbers are the bitwise complement of the positive value.</a:t>
            </a:r>
            <a:endParaRPr lang="en-US" sz="1050" dirty="0"/>
          </a:p>
        </p:txBody>
      </p:sp>
      <p:sp>
        <p:nvSpPr>
          <p:cNvPr id="23" name="Shape 18"/>
          <p:cNvSpPr/>
          <p:nvPr/>
        </p:nvSpPr>
        <p:spPr>
          <a:xfrm>
            <a:off x="5146243" y="4599432"/>
            <a:ext cx="1869034" cy="438912"/>
          </a:xfrm>
          <a:prstGeom prst="roundRect">
            <a:avLst>
              <a:gd name="adj" fmla="val 10417"/>
            </a:avLst>
          </a:prstGeom>
          <a:solidFill>
            <a:srgbClr val="F4F6FB"/>
          </a:solidFill>
          <a:ln/>
        </p:spPr>
      </p:sp>
      <p:sp>
        <p:nvSpPr>
          <p:cNvPr id="24" name="Text 19"/>
          <p:cNvSpPr/>
          <p:nvPr/>
        </p:nvSpPr>
        <p:spPr>
          <a:xfrm>
            <a:off x="5146243" y="4599432"/>
            <a:ext cx="1869034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1101 → −2</a:t>
            </a:r>
            <a:endParaRPr lang="en-US" sz="950" dirty="0"/>
          </a:p>
        </p:txBody>
      </p:sp>
      <p:sp>
        <p:nvSpPr>
          <p:cNvPr id="25" name="Shape 20"/>
          <p:cNvSpPr/>
          <p:nvPr/>
        </p:nvSpPr>
        <p:spPr>
          <a:xfrm>
            <a:off x="7307885" y="1600200"/>
            <a:ext cx="2051914" cy="3566160"/>
          </a:xfrm>
          <a:prstGeom prst="roundRect">
            <a:avLst>
              <a:gd name="adj" fmla="val 401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E2761">
                <a:alpha val="12000"/>
              </a:srgbClr>
            </a:outerShdw>
          </a:effectLst>
        </p:spPr>
      </p:sp>
      <p:sp>
        <p:nvSpPr>
          <p:cNvPr id="26" name="Shape 21"/>
          <p:cNvSpPr/>
          <p:nvPr/>
        </p:nvSpPr>
        <p:spPr>
          <a:xfrm>
            <a:off x="8059522" y="1856232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27" name="Image 3" descr="/home/claude/icons/navigation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87538" y="1984248"/>
            <a:ext cx="292608" cy="292608"/>
          </a:xfrm>
          <a:prstGeom prst="rect">
            <a:avLst/>
          </a:prstGeom>
        </p:spPr>
      </p:pic>
      <p:sp>
        <p:nvSpPr>
          <p:cNvPr id="28" name="Text 22"/>
          <p:cNvSpPr/>
          <p:nvPr/>
        </p:nvSpPr>
        <p:spPr>
          <a:xfrm>
            <a:off x="7417613" y="2560320"/>
            <a:ext cx="1832458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Two's Complement</a:t>
            </a:r>
            <a:endParaRPr lang="en-US" sz="1300" dirty="0"/>
          </a:p>
        </p:txBody>
      </p:sp>
      <p:sp>
        <p:nvSpPr>
          <p:cNvPr id="29" name="Text 23"/>
          <p:cNvSpPr/>
          <p:nvPr/>
        </p:nvSpPr>
        <p:spPr>
          <a:xfrm>
            <a:off x="7417613" y="3081528"/>
            <a:ext cx="1832458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Invert and add 1; used by virtually every modern processor, including MIPS.</a:t>
            </a:r>
            <a:endParaRPr lang="en-US" sz="1050" dirty="0"/>
          </a:p>
        </p:txBody>
      </p:sp>
      <p:sp>
        <p:nvSpPr>
          <p:cNvPr id="30" name="Shape 24"/>
          <p:cNvSpPr/>
          <p:nvPr/>
        </p:nvSpPr>
        <p:spPr>
          <a:xfrm>
            <a:off x="7399325" y="4599432"/>
            <a:ext cx="1869034" cy="438912"/>
          </a:xfrm>
          <a:prstGeom prst="roundRect">
            <a:avLst>
              <a:gd name="adj" fmla="val 10417"/>
            </a:avLst>
          </a:prstGeom>
          <a:solidFill>
            <a:srgbClr val="F4F6FB"/>
          </a:solidFill>
          <a:ln/>
        </p:spPr>
      </p:sp>
      <p:sp>
        <p:nvSpPr>
          <p:cNvPr id="31" name="Text 25"/>
          <p:cNvSpPr/>
          <p:nvPr/>
        </p:nvSpPr>
        <p:spPr>
          <a:xfrm>
            <a:off x="7399325" y="4599432"/>
            <a:ext cx="1869034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1101 → −3</a:t>
            </a:r>
            <a:endParaRPr lang="en-US" sz="950" dirty="0"/>
          </a:p>
        </p:txBody>
      </p:sp>
      <p:sp>
        <p:nvSpPr>
          <p:cNvPr id="32" name="Shape 26"/>
          <p:cNvSpPr/>
          <p:nvPr/>
        </p:nvSpPr>
        <p:spPr>
          <a:xfrm>
            <a:off x="9560966" y="1600200"/>
            <a:ext cx="2051914" cy="3566160"/>
          </a:xfrm>
          <a:prstGeom prst="roundRect">
            <a:avLst>
              <a:gd name="adj" fmla="val 401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E2761">
                <a:alpha val="12000"/>
              </a:srgbClr>
            </a:outerShdw>
          </a:effectLst>
        </p:spPr>
      </p:sp>
      <p:sp>
        <p:nvSpPr>
          <p:cNvPr id="33" name="Shape 27"/>
          <p:cNvSpPr/>
          <p:nvPr/>
        </p:nvSpPr>
        <p:spPr>
          <a:xfrm>
            <a:off x="10312603" y="1856232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34" name="Image 4" descr="/home/claude/icons/shar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440619" y="1984248"/>
            <a:ext cx="292608" cy="292608"/>
          </a:xfrm>
          <a:prstGeom prst="rect">
            <a:avLst/>
          </a:prstGeom>
        </p:spPr>
      </p:pic>
      <p:sp>
        <p:nvSpPr>
          <p:cNvPr id="35" name="Text 28"/>
          <p:cNvSpPr/>
          <p:nvPr/>
        </p:nvSpPr>
        <p:spPr>
          <a:xfrm>
            <a:off x="9670694" y="2560320"/>
            <a:ext cx="1832458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Overflow</a:t>
            </a:r>
            <a:endParaRPr lang="en-US" sz="1300" dirty="0"/>
          </a:p>
        </p:txBody>
      </p:sp>
      <p:sp>
        <p:nvSpPr>
          <p:cNvPr id="36" name="Text 29"/>
          <p:cNvSpPr/>
          <p:nvPr/>
        </p:nvSpPr>
        <p:spPr>
          <a:xfrm>
            <a:off x="9670694" y="3081528"/>
            <a:ext cx="1832458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Occurs when a result falls outside the representable range for the format and width.</a:t>
            </a:r>
            <a:endParaRPr lang="en-US" sz="1050" dirty="0"/>
          </a:p>
        </p:txBody>
      </p:sp>
      <p:sp>
        <p:nvSpPr>
          <p:cNvPr id="37" name="Shape 30"/>
          <p:cNvSpPr/>
          <p:nvPr/>
        </p:nvSpPr>
        <p:spPr>
          <a:xfrm>
            <a:off x="9652406" y="4599432"/>
            <a:ext cx="1869034" cy="438912"/>
          </a:xfrm>
          <a:prstGeom prst="roundRect">
            <a:avLst>
              <a:gd name="adj" fmla="val 10417"/>
            </a:avLst>
          </a:prstGeom>
          <a:solidFill>
            <a:srgbClr val="F4F6FB"/>
          </a:solidFill>
          <a:ln/>
        </p:spPr>
      </p:sp>
      <p:sp>
        <p:nvSpPr>
          <p:cNvPr id="38" name="Text 31"/>
          <p:cNvSpPr/>
          <p:nvPr/>
        </p:nvSpPr>
        <p:spPr>
          <a:xfrm>
            <a:off x="9652406" y="4599432"/>
            <a:ext cx="1869034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Adding two positives yielding a negative</a:t>
            </a:r>
            <a:endParaRPr lang="en-US" sz="950" dirty="0"/>
          </a:p>
        </p:txBody>
      </p:sp>
      <p:sp>
        <p:nvSpPr>
          <p:cNvPr id="39" name="Shape 32"/>
          <p:cNvSpPr/>
          <p:nvPr/>
        </p:nvSpPr>
        <p:spPr>
          <a:xfrm>
            <a:off x="548640" y="5394960"/>
            <a:ext cx="11064240" cy="777240"/>
          </a:xfrm>
          <a:prstGeom prst="roundRect">
            <a:avLst>
              <a:gd name="adj" fmla="val 7059"/>
            </a:avLst>
          </a:prstGeom>
          <a:solidFill>
            <a:srgbClr val="1E2761"/>
          </a:solidFill>
          <a:ln/>
        </p:spPr>
      </p:sp>
      <p:sp>
        <p:nvSpPr>
          <p:cNvPr id="40" name="Text 33"/>
          <p:cNvSpPr/>
          <p:nvPr/>
        </p:nvSpPr>
        <p:spPr>
          <a:xfrm>
            <a:off x="822960" y="5394960"/>
            <a:ext cx="10515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idea:  </a:t>
            </a:r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Two's complement dominates because it needs only one representation of zero, addition and subtraction reuse the same hardware as unsigned numbers, and sign-extension is simple — the top bit carries negative weight: −2^(n−1).</a:t>
            </a:r>
            <a:endParaRPr lang="en-US" sz="1250" dirty="0"/>
          </a:p>
        </p:txBody>
      </p:sp>
      <p:sp>
        <p:nvSpPr>
          <p:cNvPr id="41" name="Text 34"/>
          <p:cNvSpPr/>
          <p:nvPr/>
        </p:nvSpPr>
        <p:spPr>
          <a:xfrm>
            <a:off x="548640" y="651052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Computer Architecture · Lecture 6</a:t>
            </a:r>
            <a:endParaRPr lang="en-US" sz="1000" dirty="0"/>
          </a:p>
        </p:txBody>
      </p:sp>
      <p:sp>
        <p:nvSpPr>
          <p:cNvPr id="42" name="Text 35"/>
          <p:cNvSpPr/>
          <p:nvPr/>
        </p:nvSpPr>
        <p:spPr>
          <a:xfrm>
            <a:off x="1133856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Floating-Point Representation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IEEE 754 trades a fixed bit budget between range and precision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5349240" cy="4160520"/>
          </a:xfrm>
          <a:prstGeom prst="roundRect">
            <a:avLst>
              <a:gd name="adj" fmla="val 2198"/>
            </a:avLst>
          </a:prstGeom>
          <a:solidFill>
            <a:srgbClr val="263070"/>
          </a:solidFill>
          <a:ln/>
        </p:spPr>
      </p:sp>
      <p:sp>
        <p:nvSpPr>
          <p:cNvPr id="5" name="Shape 3"/>
          <p:cNvSpPr/>
          <p:nvPr/>
        </p:nvSpPr>
        <p:spPr>
          <a:xfrm>
            <a:off x="822960" y="1783080"/>
            <a:ext cx="548640" cy="548640"/>
          </a:xfrm>
          <a:prstGeom prst="ellipse">
            <a:avLst/>
          </a:prstGeom>
          <a:solidFill>
            <a:srgbClr val="F2A93B"/>
          </a:solidFill>
          <a:ln/>
        </p:spPr>
      </p:sp>
      <p:pic>
        <p:nvPicPr>
          <p:cNvPr id="6" name="Image 0" descr="/home/claude/icons/za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0976" y="1911096"/>
            <a:ext cx="292608" cy="29260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554480" y="1764792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Single Precision (32-bit)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1554480" y="2167128"/>
            <a:ext cx="4023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sign bit, 8 exponent bits, 23 fraction (mantissa) bits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822960" y="2825496"/>
            <a:ext cx="82296" cy="82296"/>
          </a:xfrm>
          <a:prstGeom prst="ellipse">
            <a:avLst/>
          </a:prstGeom>
          <a:solidFill>
            <a:srgbClr val="F2A93B"/>
          </a:solidFill>
          <a:ln/>
        </p:spPr>
      </p:sp>
      <p:sp>
        <p:nvSpPr>
          <p:cNvPr id="10" name="Text 7"/>
          <p:cNvSpPr/>
          <p:nvPr/>
        </p:nvSpPr>
        <p:spPr>
          <a:xfrm>
            <a:off x="1051560" y="2688336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Exponent bias of 127, giving a wide practical range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822960" y="3310128"/>
            <a:ext cx="82296" cy="82296"/>
          </a:xfrm>
          <a:prstGeom prst="ellipse">
            <a:avLst/>
          </a:prstGeom>
          <a:solidFill>
            <a:srgbClr val="F2A93B"/>
          </a:solidFill>
          <a:ln/>
        </p:spPr>
      </p:sp>
      <p:sp>
        <p:nvSpPr>
          <p:cNvPr id="12" name="Text 9"/>
          <p:cNvSpPr/>
          <p:nvPr/>
        </p:nvSpPr>
        <p:spPr>
          <a:xfrm>
            <a:off x="1051560" y="3172968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About 7 decimal digits of precision</a:t>
            </a:r>
            <a:endParaRPr lang="en-US" sz="1250" dirty="0"/>
          </a:p>
        </p:txBody>
      </p:sp>
      <p:sp>
        <p:nvSpPr>
          <p:cNvPr id="13" name="Shape 10"/>
          <p:cNvSpPr/>
          <p:nvPr/>
        </p:nvSpPr>
        <p:spPr>
          <a:xfrm>
            <a:off x="822960" y="3794760"/>
            <a:ext cx="82296" cy="82296"/>
          </a:xfrm>
          <a:prstGeom prst="ellipse">
            <a:avLst/>
          </a:prstGeom>
          <a:solidFill>
            <a:srgbClr val="F2A93B"/>
          </a:solidFill>
          <a:ln/>
        </p:spPr>
      </p:sp>
      <p:sp>
        <p:nvSpPr>
          <p:cNvPr id="14" name="Text 11"/>
          <p:cNvSpPr/>
          <p:nvPr/>
        </p:nvSpPr>
        <p:spPr>
          <a:xfrm>
            <a:off x="1051560" y="365760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Range roughly ±1.4 × 10⁻⁴⁵ to ±3.4 × 10³⁸</a:t>
            </a:r>
            <a:endParaRPr lang="en-US" sz="1250" dirty="0"/>
          </a:p>
        </p:txBody>
      </p:sp>
      <p:sp>
        <p:nvSpPr>
          <p:cNvPr id="15" name="Shape 12"/>
          <p:cNvSpPr/>
          <p:nvPr/>
        </p:nvSpPr>
        <p:spPr>
          <a:xfrm>
            <a:off x="822960" y="4279392"/>
            <a:ext cx="82296" cy="82296"/>
          </a:xfrm>
          <a:prstGeom prst="ellipse">
            <a:avLst/>
          </a:prstGeom>
          <a:solidFill>
            <a:srgbClr val="F2A93B"/>
          </a:solidFill>
          <a:ln/>
        </p:spPr>
      </p:sp>
      <p:sp>
        <p:nvSpPr>
          <p:cNvPr id="16" name="Text 13"/>
          <p:cNvSpPr/>
          <p:nvPr/>
        </p:nvSpPr>
        <p:spPr>
          <a:xfrm>
            <a:off x="1051560" y="4142232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 = (−1)^S × 1.Fraction × 2^(Exponent − 127)</a:t>
            </a:r>
            <a:endParaRPr lang="en-US" sz="1250" dirty="0"/>
          </a:p>
        </p:txBody>
      </p:sp>
      <p:sp>
        <p:nvSpPr>
          <p:cNvPr id="17" name="Shape 14"/>
          <p:cNvSpPr/>
          <p:nvPr/>
        </p:nvSpPr>
        <p:spPr>
          <a:xfrm>
            <a:off x="822960" y="4764024"/>
            <a:ext cx="82296" cy="82296"/>
          </a:xfrm>
          <a:prstGeom prst="ellipse">
            <a:avLst/>
          </a:prstGeom>
          <a:solidFill>
            <a:srgbClr val="F2A93B"/>
          </a:solidFill>
          <a:ln/>
        </p:spPr>
      </p:sp>
      <p:sp>
        <p:nvSpPr>
          <p:cNvPr id="18" name="Text 15"/>
          <p:cNvSpPr/>
          <p:nvPr/>
        </p:nvSpPr>
        <p:spPr>
          <a:xfrm>
            <a:off x="1051560" y="4626864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Smaller footprint — used when memory or bandwidth is tight</a:t>
            </a:r>
            <a:endParaRPr lang="en-US" sz="1250" dirty="0"/>
          </a:p>
        </p:txBody>
      </p:sp>
      <p:sp>
        <p:nvSpPr>
          <p:cNvPr id="19" name="Shape 16"/>
          <p:cNvSpPr/>
          <p:nvPr/>
        </p:nvSpPr>
        <p:spPr>
          <a:xfrm>
            <a:off x="822960" y="5248656"/>
            <a:ext cx="82296" cy="82296"/>
          </a:xfrm>
          <a:prstGeom prst="ellipse">
            <a:avLst/>
          </a:prstGeom>
          <a:solidFill>
            <a:srgbClr val="F2A93B"/>
          </a:solidFill>
          <a:ln/>
        </p:spPr>
      </p:sp>
      <p:sp>
        <p:nvSpPr>
          <p:cNvPr id="20" name="Text 17"/>
          <p:cNvSpPr/>
          <p:nvPr/>
        </p:nvSpPr>
        <p:spPr>
          <a:xfrm>
            <a:off x="1051560" y="5111496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use: graphics, embedded, and machine-learning inference</a:t>
            </a:r>
            <a:endParaRPr lang="en-US" sz="1250" dirty="0"/>
          </a:p>
        </p:txBody>
      </p:sp>
      <p:sp>
        <p:nvSpPr>
          <p:cNvPr id="21" name="Shape 18"/>
          <p:cNvSpPr/>
          <p:nvPr/>
        </p:nvSpPr>
        <p:spPr>
          <a:xfrm>
            <a:off x="6263640" y="1508760"/>
            <a:ext cx="5349240" cy="4160520"/>
          </a:xfrm>
          <a:prstGeom prst="roundRect">
            <a:avLst>
              <a:gd name="adj" fmla="val 2198"/>
            </a:avLst>
          </a:prstGeom>
          <a:solidFill>
            <a:srgbClr val="263070"/>
          </a:solidFill>
          <a:ln/>
        </p:spPr>
      </p:sp>
      <p:sp>
        <p:nvSpPr>
          <p:cNvPr id="22" name="Shape 19"/>
          <p:cNvSpPr/>
          <p:nvPr/>
        </p:nvSpPr>
        <p:spPr>
          <a:xfrm>
            <a:off x="6537960" y="1783080"/>
            <a:ext cx="548640" cy="548640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23" name="Image 1" descr="/home/claude/icons/boxe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65976" y="1911096"/>
            <a:ext cx="292608" cy="292608"/>
          </a:xfrm>
          <a:prstGeom prst="rect">
            <a:avLst/>
          </a:prstGeom>
        </p:spPr>
      </p:pic>
      <p:sp>
        <p:nvSpPr>
          <p:cNvPr id="24" name="Text 20"/>
          <p:cNvSpPr/>
          <p:nvPr/>
        </p:nvSpPr>
        <p:spPr>
          <a:xfrm>
            <a:off x="7269480" y="1764792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Double Precision (64-bit)</a:t>
            </a:r>
            <a:endParaRPr lang="en-US" sz="2200" dirty="0"/>
          </a:p>
        </p:txBody>
      </p:sp>
      <p:sp>
        <p:nvSpPr>
          <p:cNvPr id="25" name="Text 21"/>
          <p:cNvSpPr/>
          <p:nvPr/>
        </p:nvSpPr>
        <p:spPr>
          <a:xfrm>
            <a:off x="7269480" y="2167128"/>
            <a:ext cx="4023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sign bit, 11 exponent bits, 52 fraction (mantissa) bits</a:t>
            </a:r>
            <a:endParaRPr lang="en-US" sz="1200" dirty="0"/>
          </a:p>
        </p:txBody>
      </p:sp>
      <p:sp>
        <p:nvSpPr>
          <p:cNvPr id="26" name="Shape 22"/>
          <p:cNvSpPr/>
          <p:nvPr/>
        </p:nvSpPr>
        <p:spPr>
          <a:xfrm>
            <a:off x="6537960" y="2825496"/>
            <a:ext cx="82296" cy="82296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27" name="Text 23"/>
          <p:cNvSpPr/>
          <p:nvPr/>
        </p:nvSpPr>
        <p:spPr>
          <a:xfrm>
            <a:off x="6766560" y="2688336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Exponent bias of 1023, giving a far larger range</a:t>
            </a:r>
            <a:endParaRPr lang="en-US" sz="1250" dirty="0"/>
          </a:p>
        </p:txBody>
      </p:sp>
      <p:sp>
        <p:nvSpPr>
          <p:cNvPr id="28" name="Shape 24"/>
          <p:cNvSpPr/>
          <p:nvPr/>
        </p:nvSpPr>
        <p:spPr>
          <a:xfrm>
            <a:off x="6537960" y="3310128"/>
            <a:ext cx="82296" cy="82296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29" name="Text 25"/>
          <p:cNvSpPr/>
          <p:nvPr/>
        </p:nvSpPr>
        <p:spPr>
          <a:xfrm>
            <a:off x="6766560" y="3172968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About 15–16 decimal digits of precision</a:t>
            </a:r>
            <a:endParaRPr lang="en-US" sz="1250" dirty="0"/>
          </a:p>
        </p:txBody>
      </p:sp>
      <p:sp>
        <p:nvSpPr>
          <p:cNvPr id="30" name="Shape 26"/>
          <p:cNvSpPr/>
          <p:nvPr/>
        </p:nvSpPr>
        <p:spPr>
          <a:xfrm>
            <a:off x="6537960" y="3794760"/>
            <a:ext cx="82296" cy="82296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31" name="Text 27"/>
          <p:cNvSpPr/>
          <p:nvPr/>
        </p:nvSpPr>
        <p:spPr>
          <a:xfrm>
            <a:off x="6766560" y="365760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Range roughly ±4.9 × 10⁻³²⁴ to ±1.8 × 10³⁰⁸</a:t>
            </a:r>
            <a:endParaRPr lang="en-US" sz="1250" dirty="0"/>
          </a:p>
        </p:txBody>
      </p:sp>
      <p:sp>
        <p:nvSpPr>
          <p:cNvPr id="32" name="Shape 28"/>
          <p:cNvSpPr/>
          <p:nvPr/>
        </p:nvSpPr>
        <p:spPr>
          <a:xfrm>
            <a:off x="6537960" y="4279392"/>
            <a:ext cx="82296" cy="82296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33" name="Text 29"/>
          <p:cNvSpPr/>
          <p:nvPr/>
        </p:nvSpPr>
        <p:spPr>
          <a:xfrm>
            <a:off x="6766560" y="4142232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 = (−1)^S × 1.Fraction × 2^(Exponent − 1023)</a:t>
            </a:r>
            <a:endParaRPr lang="en-US" sz="1250" dirty="0"/>
          </a:p>
        </p:txBody>
      </p:sp>
      <p:sp>
        <p:nvSpPr>
          <p:cNvPr id="34" name="Shape 30"/>
          <p:cNvSpPr/>
          <p:nvPr/>
        </p:nvSpPr>
        <p:spPr>
          <a:xfrm>
            <a:off x="6537960" y="4764024"/>
            <a:ext cx="82296" cy="82296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35" name="Text 31"/>
          <p:cNvSpPr/>
          <p:nvPr/>
        </p:nvSpPr>
        <p:spPr>
          <a:xfrm>
            <a:off x="6766560" y="4626864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Larger footprint — used when accuracy must be preserved over many operations</a:t>
            </a:r>
            <a:endParaRPr lang="en-US" sz="1250" dirty="0"/>
          </a:p>
        </p:txBody>
      </p:sp>
      <p:sp>
        <p:nvSpPr>
          <p:cNvPr id="36" name="Shape 32"/>
          <p:cNvSpPr/>
          <p:nvPr/>
        </p:nvSpPr>
        <p:spPr>
          <a:xfrm>
            <a:off x="6537960" y="5248656"/>
            <a:ext cx="82296" cy="82296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37" name="Text 33"/>
          <p:cNvSpPr/>
          <p:nvPr/>
        </p:nvSpPr>
        <p:spPr>
          <a:xfrm>
            <a:off x="6766560" y="5111496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use: scientific computing and most general-purpose software</a:t>
            </a:r>
            <a:endParaRPr lang="en-US" sz="1250" dirty="0"/>
          </a:p>
        </p:txBody>
      </p:sp>
      <p:sp>
        <p:nvSpPr>
          <p:cNvPr id="38" name="Text 34"/>
          <p:cNvSpPr/>
          <p:nvPr/>
        </p:nvSpPr>
        <p:spPr>
          <a:xfrm>
            <a:off x="548640" y="651052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A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Computer Architecture · Lecture 6</a:t>
            </a:r>
            <a:endParaRPr lang="en-US" sz="1000" dirty="0"/>
          </a:p>
        </p:txBody>
      </p:sp>
      <p:sp>
        <p:nvSpPr>
          <p:cNvPr id="39" name="Text 35"/>
          <p:cNvSpPr/>
          <p:nvPr/>
        </p:nvSpPr>
        <p:spPr>
          <a:xfrm>
            <a:off x="1133856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Character Representation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Encoding text as numbers, one code point at a time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1508760" y="1554480"/>
            <a:ext cx="640080" cy="64008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5" name="Image 0" descr="/home/claude/icons/monito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64208" y="1709928"/>
            <a:ext cx="329184" cy="32918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233172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ASCII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548640" y="2697480"/>
            <a:ext cx="256032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7-bit code assigning 128 values to letters, digits, punctuation, and control codes.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4343400" y="1554480"/>
            <a:ext cx="640080" cy="64008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9" name="Image 1" descr="/home/claude/icons/trending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98848" y="1709928"/>
            <a:ext cx="329184" cy="329184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3383280" y="233172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Extended ASCII</a:t>
            </a:r>
            <a:endParaRPr lang="en-US" sz="1350" dirty="0"/>
          </a:p>
        </p:txBody>
      </p:sp>
      <p:sp>
        <p:nvSpPr>
          <p:cNvPr id="11" name="Text 7"/>
          <p:cNvSpPr/>
          <p:nvPr/>
        </p:nvSpPr>
        <p:spPr>
          <a:xfrm>
            <a:off x="3383280" y="2697480"/>
            <a:ext cx="256032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8-bit variants add 128 more codes for accented letters and symbols — not standardized.</a:t>
            </a:r>
            <a:endParaRPr lang="en-US" sz="1100" dirty="0"/>
          </a:p>
        </p:txBody>
      </p:sp>
      <p:sp>
        <p:nvSpPr>
          <p:cNvPr id="12" name="Shape 8"/>
          <p:cNvSpPr/>
          <p:nvPr/>
        </p:nvSpPr>
        <p:spPr>
          <a:xfrm>
            <a:off x="7178040" y="1554480"/>
            <a:ext cx="640080" cy="64008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3" name="Image 2" descr="/home/claude/icons/smartphon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33488" y="1709928"/>
            <a:ext cx="329184" cy="329184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6217920" y="233172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Unicode</a:t>
            </a:r>
            <a:endParaRPr lang="en-US" sz="1350" dirty="0"/>
          </a:p>
        </p:txBody>
      </p:sp>
      <p:sp>
        <p:nvSpPr>
          <p:cNvPr id="15" name="Text 10"/>
          <p:cNvSpPr/>
          <p:nvPr/>
        </p:nvSpPr>
        <p:spPr>
          <a:xfrm>
            <a:off x="6217920" y="2697480"/>
            <a:ext cx="256032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single standard assigning a unique code point to characters from virtually every writing system.</a:t>
            </a:r>
            <a:endParaRPr lang="en-US" sz="1100" dirty="0"/>
          </a:p>
        </p:txBody>
      </p:sp>
      <p:sp>
        <p:nvSpPr>
          <p:cNvPr id="16" name="Shape 11"/>
          <p:cNvSpPr/>
          <p:nvPr/>
        </p:nvSpPr>
        <p:spPr>
          <a:xfrm>
            <a:off x="10012680" y="1554480"/>
            <a:ext cx="640080" cy="64008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7" name="Image 3" descr="/home/claude/icons/battery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68128" y="1709928"/>
            <a:ext cx="329184" cy="329184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9052560" y="233172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UTF-8</a:t>
            </a:r>
            <a:endParaRPr lang="en-US" sz="1350" dirty="0"/>
          </a:p>
        </p:txBody>
      </p:sp>
      <p:sp>
        <p:nvSpPr>
          <p:cNvPr id="19" name="Text 13"/>
          <p:cNvSpPr/>
          <p:nvPr/>
        </p:nvSpPr>
        <p:spPr>
          <a:xfrm>
            <a:off x="9052560" y="2697480"/>
            <a:ext cx="256032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Encodes Unicode using 1–4 bytes per character; backward-compatible with 7-bit ASCII.</a:t>
            </a:r>
            <a:endParaRPr lang="en-US" sz="1100" dirty="0"/>
          </a:p>
        </p:txBody>
      </p:sp>
      <p:sp>
        <p:nvSpPr>
          <p:cNvPr id="20" name="Shape 14"/>
          <p:cNvSpPr/>
          <p:nvPr/>
        </p:nvSpPr>
        <p:spPr>
          <a:xfrm>
            <a:off x="548640" y="4160520"/>
            <a:ext cx="11064240" cy="1783080"/>
          </a:xfrm>
          <a:prstGeom prst="roundRect">
            <a:avLst>
              <a:gd name="adj" fmla="val 4103"/>
            </a:avLst>
          </a:prstGeom>
          <a:solidFill>
            <a:srgbClr val="1E2761"/>
          </a:solidFill>
          <a:ln/>
        </p:spPr>
      </p:sp>
      <p:sp>
        <p:nvSpPr>
          <p:cNvPr id="21" name="Text 15"/>
          <p:cNvSpPr/>
          <p:nvPr/>
        </p:nvSpPr>
        <p:spPr>
          <a:xfrm>
            <a:off x="914400" y="4370832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ASCII in Practice</a:t>
            </a:r>
            <a:endParaRPr lang="en-US" sz="1500" dirty="0"/>
          </a:p>
        </p:txBody>
      </p:sp>
      <p:sp>
        <p:nvSpPr>
          <p:cNvPr id="22" name="Text 16"/>
          <p:cNvSpPr/>
          <p:nvPr/>
        </p:nvSpPr>
        <p:spPr>
          <a:xfrm>
            <a:off x="914400" y="4754880"/>
            <a:ext cx="1033272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'A' = 65, 'a' = 97 — cases differ by exactly 32. '0' = 48, so a digit character minus 48 gives its numeric value. Space = 32. Strings in C are stored as bytes terminated by a null byte (0).</a:t>
            </a:r>
            <a:endParaRPr lang="en-US" sz="1350" dirty="0"/>
          </a:p>
        </p:txBody>
      </p:sp>
      <p:sp>
        <p:nvSpPr>
          <p:cNvPr id="23" name="Text 17"/>
          <p:cNvSpPr/>
          <p:nvPr/>
        </p:nvSpPr>
        <p:spPr>
          <a:xfrm>
            <a:off x="548640" y="651052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Computer Architecture · Lecture 6</a:t>
            </a:r>
            <a:endParaRPr lang="en-US" sz="1000" dirty="0"/>
          </a:p>
        </p:txBody>
      </p:sp>
      <p:sp>
        <p:nvSpPr>
          <p:cNvPr id="24" name="Text 18"/>
          <p:cNvSpPr/>
          <p:nvPr/>
        </p:nvSpPr>
        <p:spPr>
          <a:xfrm>
            <a:off x="1133856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to Read More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Patterson &amp; Hennessy — Computer Organization and Design, 4th Edition</a:t>
            </a:r>
            <a:endParaRPr lang="en-US" sz="145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08760"/>
          <a:ext cx="11064240" cy="3566160"/>
        </p:xfrm>
        <a:graphic>
          <a:graphicData uri="http://schemas.openxmlformats.org/drawingml/2006/table">
            <a:tbl>
              <a:tblPr/>
              <a:tblGrid>
                <a:gridCol w="3749040"/>
                <a:gridCol w="5852160"/>
                <a:gridCol w="1463040"/>
              </a:tblGrid>
              <a:tr h="7132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Today's Topic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A93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Book Section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A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Pages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A93B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 Representation Fundamentals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07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Ch. 3 — §3.1 Introduction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07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224–226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070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Signed &amp; Unsigned Numbers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357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Ch. 2 — §2.4 Signed and Unsigned Numbers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357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87–93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3577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Floating-Point Representation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07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Ch. 3 — §3.5 Floating Point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07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242–269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070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Character Representation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357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Ch. 2 — §2.9 Communicating with People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357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122–127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3577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48640" y="534924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Also useful: </a:t>
            </a:r>
            <a:pPr indent="0" marL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3.7, Real Stuff: Floating Point in the x86, and Section 2.20 Historical Perspective connect these encodings to real instruction sets.</a:t>
            </a:r>
            <a:endParaRPr lang="en-US" sz="1250" dirty="0"/>
          </a:p>
        </p:txBody>
      </p:sp>
      <p:sp>
        <p:nvSpPr>
          <p:cNvPr id="6" name="Text 3"/>
          <p:cNvSpPr/>
          <p:nvPr/>
        </p:nvSpPr>
        <p:spPr>
          <a:xfrm>
            <a:off x="548640" y="651052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A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Computer Architecture · Lecture 6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1133856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463040"/>
            <a:ext cx="4572000" cy="4572000"/>
          </a:xfrm>
          <a:prstGeom prst="ellipse">
            <a:avLst/>
          </a:prstGeom>
          <a:solidFill>
            <a:srgbClr val="2A3577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Recap &amp; What's Next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384048" cy="384048"/>
          </a:xfrm>
          <a:prstGeom prst="ellipse">
            <a:avLst/>
          </a:prstGeom>
          <a:solidFill>
            <a:srgbClr val="2A3577"/>
          </a:solidFill>
          <a:ln/>
        </p:spPr>
      </p:sp>
      <p:pic>
        <p:nvPicPr>
          <p:cNvPr id="5" name="Image 0" descr="/home/claude/icons/chec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463040"/>
            <a:ext cx="201168" cy="20116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97280" y="1325880"/>
            <a:ext cx="1033272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data is ultimately bits; a data type is the interpretation applied to a fixed-width pattern of them.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548640" y="2121408"/>
            <a:ext cx="384048" cy="384048"/>
          </a:xfrm>
          <a:prstGeom prst="ellipse">
            <a:avLst/>
          </a:prstGeom>
          <a:solidFill>
            <a:srgbClr val="2A3577"/>
          </a:solidFill>
          <a:ln/>
        </p:spPr>
      </p:sp>
      <p:pic>
        <p:nvPicPr>
          <p:cNvPr id="8" name="Image 1" descr="/home/claude/icons/chec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2212848"/>
            <a:ext cx="201168" cy="201168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097280" y="2075688"/>
            <a:ext cx="1033272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Two's complement is the standard signed integer format because it shares hardware with unsigned addition and has a single representation of zero.</a:t>
            </a:r>
            <a:endParaRPr lang="en-US" sz="1400" dirty="0"/>
          </a:p>
        </p:txBody>
      </p:sp>
      <p:sp>
        <p:nvSpPr>
          <p:cNvPr id="10" name="Shape 6"/>
          <p:cNvSpPr/>
          <p:nvPr/>
        </p:nvSpPr>
        <p:spPr>
          <a:xfrm>
            <a:off x="548640" y="2871216"/>
            <a:ext cx="384048" cy="384048"/>
          </a:xfrm>
          <a:prstGeom prst="ellipse">
            <a:avLst/>
          </a:prstGeom>
          <a:solidFill>
            <a:srgbClr val="2A3577"/>
          </a:solidFill>
          <a:ln/>
        </p:spPr>
      </p:sp>
      <p:pic>
        <p:nvPicPr>
          <p:cNvPr id="11" name="Image 2" descr="/home/claude/icons/chec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2962656"/>
            <a:ext cx="201168" cy="201168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1097280" y="2825496"/>
            <a:ext cx="1033272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IEEE 754 floating-point encodes sign, exponent, and fraction; single precision trades range and precision for a smaller footprint than double precision.</a:t>
            </a:r>
            <a:endParaRPr lang="en-US" sz="1400" dirty="0"/>
          </a:p>
        </p:txBody>
      </p:sp>
      <p:sp>
        <p:nvSpPr>
          <p:cNvPr id="13" name="Shape 8"/>
          <p:cNvSpPr/>
          <p:nvPr/>
        </p:nvSpPr>
        <p:spPr>
          <a:xfrm>
            <a:off x="548640" y="3621024"/>
            <a:ext cx="384048" cy="384048"/>
          </a:xfrm>
          <a:prstGeom prst="ellipse">
            <a:avLst/>
          </a:prstGeom>
          <a:solidFill>
            <a:srgbClr val="2A3577"/>
          </a:solidFill>
          <a:ln/>
        </p:spPr>
      </p:sp>
      <p:pic>
        <p:nvPicPr>
          <p:cNvPr id="14" name="Image 3" descr="/home/claude/icons/check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3712464"/>
            <a:ext cx="201168" cy="201168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1097280" y="3575304"/>
            <a:ext cx="1033272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Character data is just another encoding — ASCII maps 128 values to text, and Unicode/UTF-8 extend that to the world's writing systems.</a:t>
            </a:r>
            <a:endParaRPr lang="en-US" sz="1400" dirty="0"/>
          </a:p>
        </p:txBody>
      </p:sp>
      <p:sp>
        <p:nvSpPr>
          <p:cNvPr id="16" name="Shape 10"/>
          <p:cNvSpPr/>
          <p:nvPr/>
        </p:nvSpPr>
        <p:spPr>
          <a:xfrm>
            <a:off x="548640" y="4526280"/>
            <a:ext cx="11064240" cy="1417320"/>
          </a:xfrm>
          <a:prstGeom prst="roundRect">
            <a:avLst>
              <a:gd name="adj" fmla="val 5161"/>
            </a:avLst>
          </a:prstGeom>
          <a:solidFill>
            <a:srgbClr val="263070"/>
          </a:solidFill>
          <a:ln/>
        </p:spPr>
      </p:sp>
      <p:sp>
        <p:nvSpPr>
          <p:cNvPr id="17" name="Shape 11"/>
          <p:cNvSpPr/>
          <p:nvPr/>
        </p:nvSpPr>
        <p:spPr>
          <a:xfrm>
            <a:off x="868680" y="4828032"/>
            <a:ext cx="548640" cy="548640"/>
          </a:xfrm>
          <a:prstGeom prst="ellipse">
            <a:avLst/>
          </a:prstGeom>
          <a:solidFill>
            <a:srgbClr val="F2A93B"/>
          </a:solidFill>
          <a:ln/>
        </p:spPr>
      </p:sp>
      <p:pic>
        <p:nvPicPr>
          <p:cNvPr id="18" name="Image 4" descr="/home/claude/icons/arrowright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05840" y="4965192"/>
            <a:ext cx="292608" cy="292608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1645920" y="470916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Class:</a:t>
            </a:r>
            <a:endParaRPr lang="en-US" sz="1400" dirty="0"/>
          </a:p>
        </p:txBody>
      </p:sp>
      <p:sp>
        <p:nvSpPr>
          <p:cNvPr id="20" name="Text 13"/>
          <p:cNvSpPr/>
          <p:nvPr/>
        </p:nvSpPr>
        <p:spPr>
          <a:xfrm>
            <a:off x="1645920" y="5074920"/>
            <a:ext cx="9601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Processor: Datapath, Pipelining &amp; Instruction-Level Parallelism (Ch. 4)</a:t>
            </a:r>
            <a:endParaRPr lang="en-US" sz="1700" dirty="0"/>
          </a:p>
        </p:txBody>
      </p:sp>
      <p:sp>
        <p:nvSpPr>
          <p:cNvPr id="21" name="Text 14"/>
          <p:cNvSpPr/>
          <p:nvPr/>
        </p:nvSpPr>
        <p:spPr>
          <a:xfrm>
            <a:off x="548640" y="651052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A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Computer Architecture · Lecture 6</a:t>
            </a:r>
            <a:endParaRPr lang="en-US" sz="1000" dirty="0"/>
          </a:p>
        </p:txBody>
      </p:sp>
      <p:sp>
        <p:nvSpPr>
          <p:cNvPr id="22" name="Text 15"/>
          <p:cNvSpPr/>
          <p:nvPr/>
        </p:nvSpPr>
        <p:spPr>
          <a:xfrm>
            <a:off x="1133856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2026-07-20T08:51:38Z</dcterms:created>
  <dcterms:modified xsi:type="dcterms:W3CDTF">2026-07-20T08:51:38Z</dcterms:modified>
</cp:coreProperties>
</file>