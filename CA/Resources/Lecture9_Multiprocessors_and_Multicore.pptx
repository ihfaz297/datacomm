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A3577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26307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COMPUTER ARCHITECTURE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692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Multiprocessors &amp; Multi-core Computers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9 — Parallel Hardware, Shared Memory &amp; Flynn's Taxonomy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206240"/>
            <a:ext cx="640080" cy="64008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8" name="Image 0" descr="/home/claude/ic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4352544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42062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60 minutes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" y="493776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/home/claude/icons/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504748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4937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Patterson &amp; Hennessy, Computer Organization and Design (4th Ed.), Ch. 7 §7.1, 7.3–7.6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building blocks for your ninth hour in Computer Architecture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42032" cy="429768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745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" y="2651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7889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474720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Parallel Hardware?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429768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limits pushed the industry from faster cores to more cores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46704" y="1600200"/>
            <a:ext cx="2542032" cy="429768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575304" y="18745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3575304" y="2651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icons/comp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464" y="27889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75304" y="3474720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Flynn's Taxonomy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575304" y="429768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classes of parallel hardware, from SISD to Vector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144768" y="1600200"/>
            <a:ext cx="2542032" cy="429768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373368" y="18745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Shape 14"/>
          <p:cNvSpPr/>
          <p:nvPr/>
        </p:nvSpPr>
        <p:spPr>
          <a:xfrm>
            <a:off x="6373368" y="2651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/home/claude/icons/gitbran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278892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73368" y="3474720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Memory vs. Message Passing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373368" y="429768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for processors to cooperate on the same problem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8942832" y="1600200"/>
            <a:ext cx="2542032" cy="429768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9171432" y="18745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4" name="Shape 19"/>
          <p:cNvSpPr/>
          <p:nvPr/>
        </p:nvSpPr>
        <p:spPr>
          <a:xfrm>
            <a:off x="9171432" y="2651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3" descr="/home/claude/icons/cp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2" y="278892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171432" y="3474720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Multicore &amp; Multithreading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9171432" y="429768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 more processors — and more threads — onto one chip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9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Parallel Hardware?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 from faster uniprocessors to more processors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Drivers of Parallel Hardware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6" name="Image 0" descr="/home/claude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0299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89280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Efficiency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88720" y="222199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smaller, efficient cores can deliver better performance per watt than one large core.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834640"/>
            <a:ext cx="457200" cy="45720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10" name="Image 1" descr="/home/claude/icons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94436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80720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Task-Level Parallelism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188720" y="313639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genuinely independent jobs or threads side by side on separate processors.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14" name="Image 2" descr="/home/claude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85876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372160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Data-Level Parallelism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188720" y="405079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 same operation to many data elements at once.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18" name="Image 3" descr="/home/claude/icons/repea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773168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88720" y="463600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Programming Challenge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88720" y="496519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correct, fast parallel programs is far harder than writing sequential ones.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903720" y="1463040"/>
            <a:ext cx="4709160" cy="4572000"/>
          </a:xfrm>
          <a:prstGeom prst="roundRect">
            <a:avLst>
              <a:gd name="adj" fmla="val 1600"/>
            </a:avLst>
          </a:prstGeom>
          <a:solidFill>
            <a:srgbClr val="263070"/>
          </a:solidFill>
          <a:ln/>
        </p:spPr>
      </p:sp>
      <p:sp>
        <p:nvSpPr>
          <p:cNvPr id="22" name="Text 16"/>
          <p:cNvSpPr/>
          <p:nvPr/>
        </p:nvSpPr>
        <p:spPr>
          <a:xfrm>
            <a:off x="7223760" y="1645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Shift Matters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7223760" y="222199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4" name="Text 18"/>
          <p:cNvSpPr/>
          <p:nvPr/>
        </p:nvSpPr>
        <p:spPr>
          <a:xfrm>
            <a:off x="7452360" y="207568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speeds stopped growing rapidly once power and heat became the limiting factor.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7223760" y="309067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6" name="Text 20"/>
          <p:cNvSpPr/>
          <p:nvPr/>
        </p:nvSpPr>
        <p:spPr>
          <a:xfrm>
            <a:off x="7452360" y="294436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Amdahl's Law still applies: the serial fraction of a program bounds the speedup, however many cores are added.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7223760" y="395935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8" name="Text 22"/>
          <p:cNvSpPr/>
          <p:nvPr/>
        </p:nvSpPr>
        <p:spPr>
          <a:xfrm>
            <a:off x="7452360" y="381304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problems parallelize equally well — some hardly at all.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7223760" y="482803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0" name="Text 24"/>
          <p:cNvSpPr/>
          <p:nvPr/>
        </p:nvSpPr>
        <p:spPr>
          <a:xfrm>
            <a:off x="7452360" y="468172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“multicore” became the default answer to “how do we make chips faster?”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548640" y="571500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2A3577"/>
          </a:solidFill>
          <a:ln/>
        </p:spPr>
      </p:sp>
      <p:sp>
        <p:nvSpPr>
          <p:cNvPr id="32" name="Text 26"/>
          <p:cNvSpPr/>
          <p:nvPr/>
        </p:nvSpPr>
        <p:spPr>
          <a:xfrm>
            <a:off x="777240" y="5715000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single cores stopped getting dramatically faster, the industry turned to adding more of them — trading the hard problem of making one processor faster for the hard problem of writing software that can use many processors at once.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9 · Ch. 7 §7.1–7.2 · pp. 632–637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Flynn's Taxonomy: Five Classes of Hardware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hardware by its instruction and data streams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51914" cy="3566160"/>
          </a:xfrm>
          <a:prstGeom prst="roundRect">
            <a:avLst>
              <a:gd name="adj" fmla="val 40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00277" y="18562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cons/h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293" y="198424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560320"/>
            <a:ext cx="18324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58368" y="3081528"/>
            <a:ext cx="183245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instruction, single data — the conventional uniprocessor.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4599432"/>
            <a:ext cx="1869034" cy="438912"/>
          </a:xfrm>
          <a:prstGeom prst="roundRect">
            <a:avLst>
              <a:gd name="adj" fmla="val 10417"/>
            </a:avLst>
          </a:prstGeom>
          <a:solidFill>
            <a:srgbClr val="F4F6FB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4599432"/>
            <a:ext cx="186903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core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801722" y="1600200"/>
            <a:ext cx="2051914" cy="3566160"/>
          </a:xfrm>
          <a:prstGeom prst="roundRect">
            <a:avLst>
              <a:gd name="adj" fmla="val 40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53358" y="18562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icons/ty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374" y="198424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11450" y="2560320"/>
            <a:ext cx="18324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MIMD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911450" y="3081528"/>
            <a:ext cx="183245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instruction, multiple data — independent streams; most multiprocessors and multicores.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2893162" y="4599432"/>
            <a:ext cx="1869034" cy="438912"/>
          </a:xfrm>
          <a:prstGeom prst="roundRect">
            <a:avLst>
              <a:gd name="adj" fmla="val 10417"/>
            </a:avLst>
          </a:prstGeom>
          <a:solidFill>
            <a:srgbClr val="F4F6FB"/>
          </a:solidFill>
          <a:ln/>
        </p:spPr>
      </p:sp>
      <p:sp>
        <p:nvSpPr>
          <p:cNvPr id="17" name="Text 13"/>
          <p:cNvSpPr/>
          <p:nvPr/>
        </p:nvSpPr>
        <p:spPr>
          <a:xfrm>
            <a:off x="2893162" y="4599432"/>
            <a:ext cx="186903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cores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054803" y="1600200"/>
            <a:ext cx="2051914" cy="3566160"/>
          </a:xfrm>
          <a:prstGeom prst="roundRect">
            <a:avLst>
              <a:gd name="adj" fmla="val 40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806440" y="18562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/home/claude/icons/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456" y="1984248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64531" y="2560320"/>
            <a:ext cx="18324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SIMD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164531" y="3081528"/>
            <a:ext cx="183245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instruction, multiple data — one operation applied across many ALUs at once.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5146243" y="4599432"/>
            <a:ext cx="1869034" cy="438912"/>
          </a:xfrm>
          <a:prstGeom prst="roundRect">
            <a:avLst>
              <a:gd name="adj" fmla="val 10417"/>
            </a:avLst>
          </a:prstGeom>
          <a:solidFill>
            <a:srgbClr val="F4F6FB"/>
          </a:solidFill>
          <a:ln/>
        </p:spPr>
      </p:sp>
      <p:sp>
        <p:nvSpPr>
          <p:cNvPr id="24" name="Text 19"/>
          <p:cNvSpPr/>
          <p:nvPr/>
        </p:nvSpPr>
        <p:spPr>
          <a:xfrm>
            <a:off x="5146243" y="4599432"/>
            <a:ext cx="186903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×N lanes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7307885" y="1600200"/>
            <a:ext cx="2051914" cy="3566160"/>
          </a:xfrm>
          <a:prstGeom prst="roundRect">
            <a:avLst>
              <a:gd name="adj" fmla="val 40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059522" y="18562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3" descr="/home/claude/icons/naviga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7538" y="1984248"/>
            <a:ext cx="292608" cy="29260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417613" y="2560320"/>
            <a:ext cx="18324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SPMD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7417613" y="3081528"/>
            <a:ext cx="183245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program, multiple data — every processor runs the same program on its own data, not in lockstep.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7399325" y="4599432"/>
            <a:ext cx="1869034" cy="438912"/>
          </a:xfrm>
          <a:prstGeom prst="roundRect">
            <a:avLst>
              <a:gd name="adj" fmla="val 10417"/>
            </a:avLst>
          </a:prstGeom>
          <a:solidFill>
            <a:srgbClr val="F4F6FB"/>
          </a:solidFill>
          <a:ln/>
        </p:spPr>
      </p:sp>
      <p:sp>
        <p:nvSpPr>
          <p:cNvPr id="31" name="Text 25"/>
          <p:cNvSpPr/>
          <p:nvPr/>
        </p:nvSpPr>
        <p:spPr>
          <a:xfrm>
            <a:off x="7399325" y="4599432"/>
            <a:ext cx="186903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MIMD style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9560966" y="1600200"/>
            <a:ext cx="2051914" cy="3566160"/>
          </a:xfrm>
          <a:prstGeom prst="roundRect">
            <a:avLst>
              <a:gd name="adj" fmla="val 40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10312603" y="18562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4" name="Image 4" descr="/home/claude/icons/shar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0619" y="1984248"/>
            <a:ext cx="292608" cy="29260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670694" y="2560320"/>
            <a:ext cx="18324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9670694" y="3081528"/>
            <a:ext cx="183245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instruction operates on an entire sequence of data elements pipelined through one unit.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9652406" y="4599432"/>
            <a:ext cx="1869034" cy="438912"/>
          </a:xfrm>
          <a:prstGeom prst="roundRect">
            <a:avLst>
              <a:gd name="adj" fmla="val 10417"/>
            </a:avLst>
          </a:prstGeom>
          <a:solidFill>
            <a:srgbClr val="F4F6FB"/>
          </a:solidFill>
          <a:ln/>
        </p:spPr>
      </p:sp>
      <p:sp>
        <p:nvSpPr>
          <p:cNvPr id="38" name="Text 31"/>
          <p:cNvSpPr/>
          <p:nvPr/>
        </p:nvSpPr>
        <p:spPr>
          <a:xfrm>
            <a:off x="9652406" y="4599432"/>
            <a:ext cx="186903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v[0..n]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548640" y="539496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40" name="Text 33"/>
          <p:cNvSpPr/>
          <p:nvPr/>
        </p:nvSpPr>
        <p:spPr>
          <a:xfrm>
            <a:off x="822960" y="53949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SISD and MIMD classify hardware by whether there's one instruction stream or many; SIMD, SPMD, and Vector are three different ways to apply one instruction stream's worth of control to lots of data at once.</a:t>
            </a:r>
            <a:endParaRPr lang="en-US" sz="1250" dirty="0"/>
          </a:p>
        </p:txBody>
      </p:sp>
      <p:sp>
        <p:nvSpPr>
          <p:cNvPr id="41" name="Text 3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9 · Ch. 7 §7.6 · pp. 648–653</a:t>
            </a:r>
            <a:endParaRPr lang="en-US" sz="1000" dirty="0"/>
          </a:p>
        </p:txBody>
      </p:sp>
      <p:sp>
        <p:nvSpPr>
          <p:cNvPr id="42" name="Text 3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Memory vs. Message Passing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for processors to cooperate on a problem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263070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8308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6" name="Image 0" descr="/home/claude/icons/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91109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647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Memory Multiprocessors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554480" y="21671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processors share one physical address space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" y="2825496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268833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happens implicitly through ordinary loads and stores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310128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317296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UMA: access time to memory is uniform for every processor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22960" y="3794760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4" name="Text 11"/>
          <p:cNvSpPr/>
          <p:nvPr/>
        </p:nvSpPr>
        <p:spPr>
          <a:xfrm>
            <a:off x="1051560" y="3657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NUMA: access time depends on which memory bank a processor is near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22960" y="4279392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3"/>
          <p:cNvSpPr/>
          <p:nvPr/>
        </p:nvSpPr>
        <p:spPr>
          <a:xfrm>
            <a:off x="1051560" y="414223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cache-coherence hardware to keep shared data consistent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22960" y="4764024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Text 15"/>
          <p:cNvSpPr/>
          <p:nvPr/>
        </p:nvSpPr>
        <p:spPr>
          <a:xfrm>
            <a:off x="1051560" y="462686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model is familiar, but synchronization (locks) is required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22960" y="5248656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0" name="Text 17"/>
          <p:cNvSpPr/>
          <p:nvPr/>
        </p:nvSpPr>
        <p:spPr>
          <a:xfrm>
            <a:off x="1051560" y="511149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use: symmetric multiprocessor (SMP) servers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263640" y="150876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263070"/>
          </a:solidFill>
          <a:ln/>
        </p:spPr>
      </p:sp>
      <p:sp>
        <p:nvSpPr>
          <p:cNvPr id="22" name="Shape 19"/>
          <p:cNvSpPr/>
          <p:nvPr/>
        </p:nvSpPr>
        <p:spPr>
          <a:xfrm>
            <a:off x="6537960" y="178308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3" name="Image 1" descr="/home/claude/icons/box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976" y="1911096"/>
            <a:ext cx="292608" cy="29260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269480" y="17647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Message-Passing Multiprocessors</a:t>
            </a:r>
            <a:endParaRPr lang="en-US" sz="2200" dirty="0"/>
          </a:p>
        </p:txBody>
      </p:sp>
      <p:sp>
        <p:nvSpPr>
          <p:cNvPr id="25" name="Text 21"/>
          <p:cNvSpPr/>
          <p:nvPr/>
        </p:nvSpPr>
        <p:spPr>
          <a:xfrm>
            <a:off x="7269480" y="21671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processor has its own private memory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537960" y="2825496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Text 23"/>
          <p:cNvSpPr/>
          <p:nvPr/>
        </p:nvSpPr>
        <p:spPr>
          <a:xfrm>
            <a:off x="6766560" y="268833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happens explicitly by sending and receiving messages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537960" y="3310128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9" name="Text 25"/>
          <p:cNvSpPr/>
          <p:nvPr/>
        </p:nvSpPr>
        <p:spPr>
          <a:xfrm>
            <a:off x="6766560" y="317296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address space, so no cache-coherence hardware is needed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6537960" y="3794760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1" name="Text 27"/>
          <p:cNvSpPr/>
          <p:nvPr/>
        </p:nvSpPr>
        <p:spPr>
          <a:xfrm>
            <a:off x="6766560" y="3657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Naturally suits clusters of separate machines connected by a network</a:t>
            </a:r>
            <a:endParaRPr lang="en-US" sz="1250" dirty="0"/>
          </a:p>
        </p:txBody>
      </p:sp>
      <p:sp>
        <p:nvSpPr>
          <p:cNvPr id="32" name="Shape 28"/>
          <p:cNvSpPr/>
          <p:nvPr/>
        </p:nvSpPr>
        <p:spPr>
          <a:xfrm>
            <a:off x="6537960" y="4279392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3" name="Text 29"/>
          <p:cNvSpPr/>
          <p:nvPr/>
        </p:nvSpPr>
        <p:spPr>
          <a:xfrm>
            <a:off x="6766560" y="414223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model is more explicit, but often easier to reason about</a:t>
            </a:r>
            <a:endParaRPr lang="en-US" sz="1250" dirty="0"/>
          </a:p>
        </p:txBody>
      </p:sp>
      <p:sp>
        <p:nvSpPr>
          <p:cNvPr id="34" name="Shape 30"/>
          <p:cNvSpPr/>
          <p:nvPr/>
        </p:nvSpPr>
        <p:spPr>
          <a:xfrm>
            <a:off x="6537960" y="4764024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5" name="Text 31"/>
          <p:cNvSpPr/>
          <p:nvPr/>
        </p:nvSpPr>
        <p:spPr>
          <a:xfrm>
            <a:off x="6766560" y="462686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very large numbers of processors — even entire clusters</a:t>
            </a:r>
            <a:endParaRPr lang="en-US" sz="1250" dirty="0"/>
          </a:p>
        </p:txBody>
      </p:sp>
      <p:sp>
        <p:nvSpPr>
          <p:cNvPr id="36" name="Shape 32"/>
          <p:cNvSpPr/>
          <p:nvPr/>
        </p:nvSpPr>
        <p:spPr>
          <a:xfrm>
            <a:off x="6537960" y="5248656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7" name="Text 33"/>
          <p:cNvSpPr/>
          <p:nvPr/>
        </p:nvSpPr>
        <p:spPr>
          <a:xfrm>
            <a:off x="6766560" y="511149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use: warehouse-scale clusters and supercomputers</a:t>
            </a:r>
            <a:endParaRPr lang="en-US" sz="1250" dirty="0"/>
          </a:p>
        </p:txBody>
      </p:sp>
      <p:sp>
        <p:nvSpPr>
          <p:cNvPr id="38" name="Text 3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9 · Ch. 7 §7.3–7.4 · pp. 638–644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Multicore &amp; Hardware Multithreading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 more processors — and more threads — onto one chip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508760" y="1554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icons/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4208" y="170992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Multicore Chips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26974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complete processors fabricated on a single chip, sharing an interconnect and outer cache.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43400" y="1554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home/claude/icons/tren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170992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8328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Coarse-Grained Multithreading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383280" y="26974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between threads only on a costly stall, such as a cache miss.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178040" y="1554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home/claude/icons/smartph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488" y="170992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1792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Multithreading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217920" y="26974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between threads every clock cycle, hiding both short and long stalls.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10012680" y="1554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/home/claude/icons/batte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8128" y="170992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5256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Multithreading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9052560" y="26974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instructions from multiple threads in the very same clock cycle.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8640" y="416052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1E2761"/>
          </a:solidFill>
          <a:ln/>
        </p:spPr>
      </p:sp>
      <p:sp>
        <p:nvSpPr>
          <p:cNvPr id="21" name="Text 15"/>
          <p:cNvSpPr/>
          <p:nvPr/>
        </p:nvSpPr>
        <p:spPr>
          <a:xfrm>
            <a:off x="914400" y="43708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Multithreading in Practice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914400" y="475488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multithreading doesn't add processors — it lets one processor's pipeline stay busy by switching to a different thread's instructions whenever the current thread is stalled, squeezing more useful work out of the same hardware.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9 · Ch. 7 §7.5 · pp. 645–647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Read More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Patterson &amp; Hennessy — Computer Organization and Design, 4th Edition</a:t>
            </a:r>
            <a:endParaRPr lang="en-US" sz="14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3566160"/>
        </p:xfrm>
        <a:graphic>
          <a:graphicData uri="http://schemas.openxmlformats.org/drawingml/2006/table">
            <a:tbl>
              <a:tblPr/>
              <a:tblGrid>
                <a:gridCol w="3749040"/>
                <a:gridCol w="5852160"/>
                <a:gridCol w="1463040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Today's Topic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Section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3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Parallel Hardware?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Ch. 7 — §7.1–7.2 Introduction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632–637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7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Flynn's Taxonomy: Five Classes of Hardware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Ch. 7 — §7.6 SISD, MIMD, SIMD, SPMD, Vector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648–653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Memory vs. Message Passing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Ch. 7 — §7.3–7.4 Multiprocessors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638–644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7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Multicore &amp; Hardware Multithreading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Ch. 7 — §7.5 Hardware Multithreading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645–647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349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useful: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7.7, Introduction to Graphics Processing Units, extends SIMD/SPMD ideas to the GPU; Section 7.13, Fallacies and Pitfalls, covers common misconceptions about parallel speedup.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9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A35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What's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4048" cy="384048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5" name="Image 0" descr="/home/claude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325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limits, not a lack of transistors, pushed processor design from faster uniprocessors toward multiple cores.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121408"/>
            <a:ext cx="384048" cy="384048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8" name="Image 1" descr="/home/claude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12848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07568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Flynn's taxonomy — SISD, MIMD, SIMD, SPMD, and Vector — classifies hardware by its instruction and data streams.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11" name="Image 2" descr="/home/claude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62656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2825496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Shared-memory multiprocessors communicate through loads and stores; message-passing multiprocessors communicate explicitly and scale further.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8640" y="3621024"/>
            <a:ext cx="384048" cy="384048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14" name="Image 3" descr="/home/claude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712464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7280" y="3575304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Multicore chips and hardware multithreading are two different ways to put more execution capacity on the same die.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48640" y="45262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263070"/>
          </a:solidFill>
          <a:ln/>
        </p:spPr>
      </p:sp>
      <p:sp>
        <p:nvSpPr>
          <p:cNvPr id="17" name="Shape 11"/>
          <p:cNvSpPr/>
          <p:nvPr/>
        </p:nvSpPr>
        <p:spPr>
          <a:xfrm>
            <a:off x="868680" y="4828032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8" name="Image 4" descr="/home/claude/icons/arrowr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965192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6459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Class: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1645920" y="5074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Input/Output Devices: Buses, Interfacing, Performance &amp; RAID (Ch. 6)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9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2026-07-20T08:51:38Z</dcterms:created>
  <dcterms:modified xsi:type="dcterms:W3CDTF">2026-07-20T08:51:38Z</dcterms:modified>
</cp:coreProperties>
</file>