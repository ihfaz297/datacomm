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099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Computer Architecture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— Overview, History, Fundamental Blocks, Cost &amp; Performance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35985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279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50913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50109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Hennessy, Computer Organization and Design (4th Ed.), Ch.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your first hour in Computer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737360" y="18516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979" y="20052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174650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History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606040" y="216712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computer architecture, and how did we get here?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418320" y="1600200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907792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2907792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1737360" y="31592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979" y="3312871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3054096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Blocks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606040" y="34747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classic components of any computer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9418320" y="2907792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4215384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77240" y="4215384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1737360" y="446684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0979" y="4620463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606040" y="436168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Factor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2606040" y="478231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cost drives real-world design decisions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9418320" y="4215384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5522976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77240" y="5522976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Shape 22"/>
          <p:cNvSpPr/>
          <p:nvPr/>
        </p:nvSpPr>
        <p:spPr>
          <a:xfrm>
            <a:off x="1737360" y="577443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979" y="5928055"/>
            <a:ext cx="332842" cy="33284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606040" y="56692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2606040" y="608990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and compare computer performance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9418320" y="5522976"/>
            <a:ext cx="1920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Computer Architecture?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92240" cy="4892040"/>
          </a:xfrm>
          <a:prstGeom prst="roundRect">
            <a:avLst>
              <a:gd name="adj" fmla="val 1495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connected layers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5852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= the attributes visible to a programmer: instruction set, addressing, data types.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 = how those attributes are actually implemented in hardware (datapath, control, memory).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studies both — the hardware/software interface.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constantly balances performance, cost, power, and reliability.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269480" y="1234440"/>
            <a:ext cx="4343400" cy="4892040"/>
          </a:xfrm>
          <a:prstGeom prst="roundRect">
            <a:avLst>
              <a:gd name="adj" fmla="val 168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Short History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43800" y="1993392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7616952" y="2139696"/>
            <a:ext cx="0" cy="566928"/>
          </a:xfrm>
          <a:prstGeom prst="line">
            <a:avLst/>
          </a:prstGeom>
          <a:noFill/>
          <a:ln w="19050">
            <a:solidFill>
              <a:srgbClr val="4450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892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21305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tubes — first electronic computers (ENIAC)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0" y="2752344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16952" y="2898648"/>
            <a:ext cx="0" cy="566928"/>
          </a:xfrm>
          <a:prstGeom prst="line">
            <a:avLst/>
          </a:prstGeom>
          <a:noFill/>
          <a:ln w="19050">
            <a:solidFill>
              <a:srgbClr val="4450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1950s–60s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0" y="28895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&amp; integrated circuits shrink hardware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43800" y="351129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616952" y="3657600"/>
            <a:ext cx="0" cy="566928"/>
          </a:xfrm>
          <a:prstGeom prst="line">
            <a:avLst/>
          </a:prstGeom>
          <a:noFill/>
          <a:ln w="19050">
            <a:solidFill>
              <a:srgbClr val="4450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3410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1970s–80s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36484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Microprocessors bring computing to the desktop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43800" y="427024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6952" y="4416552"/>
            <a:ext cx="0" cy="566928"/>
          </a:xfrm>
          <a:prstGeom prst="line">
            <a:avLst/>
          </a:prstGeom>
          <a:noFill/>
          <a:ln w="19050">
            <a:solidFill>
              <a:srgbClr val="4450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41696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0" y="44074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wall halts clock-speed race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43800" y="502920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4928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0" y="5166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 &amp; multiprocessor systems dominate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Blocks of a Computer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classic hardware components — every computer has these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5296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861" y="23244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632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4747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that bring data/instructions in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099816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79776" y="18288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56432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997" y="232440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89504" y="30632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916936" y="34747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that deliver results out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3099816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10912" y="18288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87568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3133" y="2324405"/>
            <a:ext cx="380390" cy="38039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20640" y="30632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5148072" y="34747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programs and data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3099816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242048" y="18288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918704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4269" y="2324405"/>
            <a:ext cx="380390" cy="38039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51776" y="30632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7379208" y="34747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arithmetic/logic operations</a:t>
            </a:r>
            <a:endParaRPr lang="en-US" sz="11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3099816"/>
            <a:ext cx="201168" cy="20116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473184" y="182880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14984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5405" y="2324405"/>
            <a:ext cx="380390" cy="38039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582912" y="30632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600" dirty="0"/>
          </a:p>
        </p:txBody>
      </p:sp>
      <p:sp>
        <p:nvSpPr>
          <p:cNvPr id="32" name="Text 21"/>
          <p:cNvSpPr/>
          <p:nvPr/>
        </p:nvSpPr>
        <p:spPr>
          <a:xfrm>
            <a:off x="9610344" y="3474720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the datapath, memory &amp; I/O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34" name="Shape 23"/>
          <p:cNvSpPr/>
          <p:nvPr/>
        </p:nvSpPr>
        <p:spPr>
          <a:xfrm>
            <a:off x="777240" y="5120640"/>
            <a:ext cx="777240" cy="77724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8" y="5307178"/>
            <a:ext cx="404165" cy="404165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737360" y="507492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datapath and control together are often called "the processor." Memory holds both instructions and data — the stored-program concept.</a:t>
            </a:r>
            <a:endParaRPr lang="en-US" sz="1400" dirty="0"/>
          </a:p>
        </p:txBody>
      </p:sp>
      <p:sp>
        <p:nvSpPr>
          <p:cNvPr id="3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Factor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cost—not just speed—drives architecture decisions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9366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Circuit Cost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die rises sharply as die size increases (yield falls with area).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wafer and defect rate together determine die cost.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production lowers cost per chip — fixed engineering costs are spread out.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curve: cost drops as manufacturing experience grows over a technology's lifetime.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783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per Unit Cost — Across Eras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560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Tube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6520" y="2852928"/>
            <a:ext cx="109728" cy="292608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6693408" y="28254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34015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46520" y="3694176"/>
            <a:ext cx="781298" cy="292608"/>
          </a:xfrm>
          <a:prstGeom prst="roundRect">
            <a:avLst>
              <a:gd name="adj" fmla="val 9375"/>
            </a:avLst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7364978" y="36667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35×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46520" y="424281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Circuit (SSI)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46520" y="4535424"/>
            <a:ext cx="1494845" cy="292608"/>
          </a:xfrm>
          <a:prstGeom prst="roundRect">
            <a:avLst>
              <a:gd name="adj" fmla="val 9375"/>
            </a:avLst>
          </a:prstGeom>
          <a:solidFill>
            <a:srgbClr val="F2A93B"/>
          </a:solidFill>
          <a:ln/>
        </p:spPr>
      </p:sp>
      <p:sp>
        <p:nvSpPr>
          <p:cNvPr id="19" name="Text 16"/>
          <p:cNvSpPr/>
          <p:nvPr/>
        </p:nvSpPr>
        <p:spPr>
          <a:xfrm>
            <a:off x="8078525" y="45079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900×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46520" y="50840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(Microprocessor)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46520" y="5376672"/>
            <a:ext cx="2834640" cy="292608"/>
          </a:xfrm>
          <a:prstGeom prst="roundRect">
            <a:avLst>
              <a:gd name="adj" fmla="val 9375"/>
            </a:avLst>
          </a:prstGeom>
          <a:solidFill>
            <a:srgbClr val="F2A93B"/>
          </a:solidFill>
          <a:ln/>
        </p:spPr>
      </p:sp>
      <p:sp>
        <p:nvSpPr>
          <p:cNvPr id="22" name="Text 19"/>
          <p:cNvSpPr/>
          <p:nvPr/>
        </p:nvSpPr>
        <p:spPr>
          <a:xfrm>
            <a:off x="9418320" y="5349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400,000×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46520" y="59710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shown on a log scale (orders of magnitude), not linear.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"how fast" a computer really is?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8013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099" y="1954987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28803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between start and completion of a task (latency).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8013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739" y="195498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93008" y="28803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of work done per unit time.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0" y="18013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379" y="195498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Time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27648" y="28803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clock cycles × Clock cycle time, for a program.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9AA5C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0" y="180136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2019" y="1954987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2514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62288" y="28803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cycles Per Instruction — cost of each instruction type.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Performance Equation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22960" y="42793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Time  =  Instruction Count  ×  CPI  ×  Clock Cycle Time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822960" y="48280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variables designers can influence — architecture, compiler, and technology each affect a different one.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14" y="5572354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80160" y="5504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 is n times faster than Y" means Execution Time(Y) / Execution Time(X) = n.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 — Computer Organization and Design, 4th Edition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931920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 &amp; History of Computer Architecture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Ch.1 — §1.1 Introduction, §1.10 Historical Perspective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3–9, 55–72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Fundamental Blocks (Input, Output, Memory, Datapath, Control)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Ch.1 — §1.3 Under the Covers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Factor (IC manufacturing cost, cost/performance)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Ch.1 — §1.6 &amp; Elaboration on IC Cost; §1.7 Real Stuff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41–51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Metrics (response time, throughput, CPU time, CPI)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Ch.1 — §1.4 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58155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5947258"/>
            <a:ext cx="285293" cy="285293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1417320" y="58521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 for cost/I-O sections: William Stallings, Computer Organization and Architecture (parallel treatment, easier prose).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206240" cy="420624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links programmer-visible attributes to hardware organization.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computer shares five fundamental blocks: input, output, memory, datapath, control.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performance are always in tension — cost/performance drives real design choices.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measured via response time, throughput, CPU time, and CPI.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10332720" cy="1554480"/>
          </a:xfrm>
          <a:prstGeom prst="roundRect">
            <a:avLst>
              <a:gd name="adj" fmla="val 5882"/>
            </a:avLst>
          </a:prstGeom>
          <a:solidFill>
            <a:srgbClr val="2A3577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89204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70" y="5089550"/>
            <a:ext cx="427939" cy="4279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4754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148840" y="5074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Set Architecture — RISC vs. CISC, ARM &amp; x86 (Ch. 2 &amp; Appendix)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792</Words>
  <Application>Microsoft Office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Architecture — Lecture 1</dc:title>
  <dc:subject>PptxGenJS Presentation</dc:subject>
  <dc:creator>Computer Architecture Course</dc:creator>
  <cp:lastModifiedBy>Md. Shymon Islam</cp:lastModifiedBy>
  <cp:revision>2</cp:revision>
  <dcterms:created xsi:type="dcterms:W3CDTF">2026-07-06T17:28:56Z</dcterms:created>
  <dcterms:modified xsi:type="dcterms:W3CDTF">2026-07-06T18:09:59Z</dcterms:modified>
</cp:coreProperties>
</file>